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576072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The top 10 at a glance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Number 1" descr=""/>
          <p:cNvSpPr/>
          <p:nvPr/>
        </p:nvSpPr>
        <p:spPr>
          <a:xfrm>
            <a:off x="731520" y="2325623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1</a:t>
            </a:r>
          </a:p>
        </p:txBody>
      </p:sp>
      <p:sp>
        <p:nvSpPr>
          <p:cNvPr id="5" name="Idea 1"/>
          <p:cNvSpPr txBox="1"/>
          <p:nvPr/>
        </p:nvSpPr>
        <p:spPr>
          <a:xfrm>
            <a:off x="1554480" y="2362199"/>
            <a:ext cx="187451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Claude Mods</a:t>
            </a:r>
          </a:p>
        </p:txBody>
      </p:sp>
      <p:sp>
        <p:nvSpPr>
          <p:cNvPr id="6" name="Number 2" descr=""/>
          <p:cNvSpPr/>
          <p:nvPr/>
        </p:nvSpPr>
        <p:spPr>
          <a:xfrm>
            <a:off x="731520" y="3102864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2</a:t>
            </a:r>
          </a:p>
        </p:txBody>
      </p:sp>
      <p:sp>
        <p:nvSpPr>
          <p:cNvPr id="7" name="Idea 2"/>
          <p:cNvSpPr txBox="1"/>
          <p:nvPr/>
        </p:nvSpPr>
        <p:spPr>
          <a:xfrm>
            <a:off x="1554480" y="3139440"/>
            <a:ext cx="4023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'You should know' side agent</a:t>
            </a:r>
          </a:p>
        </p:txBody>
      </p:sp>
      <p:sp>
        <p:nvSpPr>
          <p:cNvPr id="8" name="Number 3" descr=""/>
          <p:cNvSpPr/>
          <p:nvPr/>
        </p:nvSpPr>
        <p:spPr>
          <a:xfrm>
            <a:off x="731520" y="3880104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3</a:t>
            </a:r>
          </a:p>
        </p:txBody>
      </p:sp>
      <p:sp>
        <p:nvSpPr>
          <p:cNvPr id="9" name="Idea 3"/>
          <p:cNvSpPr txBox="1"/>
          <p:nvPr/>
        </p:nvSpPr>
        <p:spPr>
          <a:xfrm>
            <a:off x="1554480" y="3916680"/>
            <a:ext cx="2377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Claude Haiku 5.5</a:t>
            </a:r>
          </a:p>
        </p:txBody>
      </p:sp>
      <p:sp>
        <p:nvSpPr>
          <p:cNvPr id="10" name="Number 4" descr=""/>
          <p:cNvSpPr/>
          <p:nvPr/>
        </p:nvSpPr>
        <p:spPr>
          <a:xfrm>
            <a:off x="731520" y="4657344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4</a:t>
            </a:r>
          </a:p>
        </p:txBody>
      </p:sp>
      <p:sp>
        <p:nvSpPr>
          <p:cNvPr id="11" name="Idea 4"/>
          <p:cNvSpPr txBox="1"/>
          <p:nvPr/>
        </p:nvSpPr>
        <p:spPr>
          <a:xfrm>
            <a:off x="1554480" y="4693920"/>
            <a:ext cx="4251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1M context on cloud providers</a:t>
            </a:r>
          </a:p>
        </p:txBody>
      </p:sp>
      <p:sp>
        <p:nvSpPr>
          <p:cNvPr id="12" name="Number 5" descr=""/>
          <p:cNvSpPr/>
          <p:nvPr/>
        </p:nvSpPr>
        <p:spPr>
          <a:xfrm>
            <a:off x="731520" y="5434584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5</a:t>
            </a:r>
          </a:p>
        </p:txBody>
      </p:sp>
      <p:sp>
        <p:nvSpPr>
          <p:cNvPr id="13" name="Idea 5"/>
          <p:cNvSpPr txBox="1"/>
          <p:nvPr/>
        </p:nvSpPr>
        <p:spPr>
          <a:xfrm>
            <a:off x="1554480" y="5471160"/>
            <a:ext cx="27432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Per-subagent effort</a:t>
            </a:r>
          </a:p>
        </p:txBody>
      </p:sp>
      <p:sp>
        <p:nvSpPr>
          <p:cNvPr id="14" name="Number 6" descr=""/>
          <p:cNvSpPr/>
          <p:nvPr/>
        </p:nvSpPr>
        <p:spPr>
          <a:xfrm>
            <a:off x="6370167" y="2325623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6</a:t>
            </a:r>
          </a:p>
        </p:txBody>
      </p:sp>
      <p:sp>
        <p:nvSpPr>
          <p:cNvPr id="15" name="Idea 6"/>
          <p:cNvSpPr txBox="1"/>
          <p:nvPr/>
        </p:nvSpPr>
        <p:spPr>
          <a:xfrm>
            <a:off x="7193127" y="2362199"/>
            <a:ext cx="2468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Fail-closed hooks</a:t>
            </a:r>
          </a:p>
        </p:txBody>
      </p:sp>
      <p:sp>
        <p:nvSpPr>
          <p:cNvPr id="16" name="Number 7" descr=""/>
          <p:cNvSpPr/>
          <p:nvPr/>
        </p:nvSpPr>
        <p:spPr>
          <a:xfrm>
            <a:off x="6370167" y="3102864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7</a:t>
            </a:r>
          </a:p>
        </p:txBody>
      </p:sp>
      <p:sp>
        <p:nvSpPr>
          <p:cNvPr id="17" name="Idea 7"/>
          <p:cNvSpPr txBox="1"/>
          <p:nvPr/>
        </p:nvSpPr>
        <p:spPr>
          <a:xfrm>
            <a:off x="7193127" y="3139440"/>
            <a:ext cx="2651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Faster agents view</a:t>
            </a:r>
          </a:p>
        </p:txBody>
      </p:sp>
      <p:sp>
        <p:nvSpPr>
          <p:cNvPr id="18" name="Number 8" descr=""/>
          <p:cNvSpPr/>
          <p:nvPr/>
        </p:nvSpPr>
        <p:spPr>
          <a:xfrm>
            <a:off x="6370167" y="3880104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8</a:t>
            </a:r>
          </a:p>
        </p:txBody>
      </p:sp>
      <p:sp>
        <p:nvSpPr>
          <p:cNvPr id="19" name="Idea 8"/>
          <p:cNvSpPr txBox="1"/>
          <p:nvPr/>
        </p:nvSpPr>
        <p:spPr>
          <a:xfrm>
            <a:off x="7193127" y="3916680"/>
            <a:ext cx="38862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/code-review --max-findings</a:t>
            </a:r>
          </a:p>
        </p:txBody>
      </p:sp>
      <p:sp>
        <p:nvSpPr>
          <p:cNvPr id="20" name="Number 9" descr=""/>
          <p:cNvSpPr/>
          <p:nvPr/>
        </p:nvSpPr>
        <p:spPr>
          <a:xfrm>
            <a:off x="6370167" y="4657344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9</a:t>
            </a:r>
          </a:p>
        </p:txBody>
      </p:sp>
      <p:sp>
        <p:nvSpPr>
          <p:cNvPr id="21" name="Idea 9"/>
          <p:cNvSpPr txBox="1"/>
          <p:nvPr/>
        </p:nvSpPr>
        <p:spPr>
          <a:xfrm>
            <a:off x="7193127" y="4693920"/>
            <a:ext cx="40690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Managed Agents onboarding</a:t>
            </a:r>
          </a:p>
        </p:txBody>
      </p:sp>
      <p:sp>
        <p:nvSpPr>
          <p:cNvPr id="22" name="Number 10" descr=""/>
          <p:cNvSpPr/>
          <p:nvPr/>
        </p:nvSpPr>
        <p:spPr>
          <a:xfrm>
            <a:off x="6370167" y="5434584"/>
            <a:ext cx="548640" cy="54864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10</a:t>
            </a:r>
          </a:p>
        </p:txBody>
      </p:sp>
      <p:sp>
        <p:nvSpPr>
          <p:cNvPr id="23" name="Idea 10"/>
          <p:cNvSpPr txBox="1"/>
          <p:nvPr/>
        </p:nvSpPr>
        <p:spPr>
          <a:xfrm>
            <a:off x="7193127" y="5471160"/>
            <a:ext cx="2606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EAEFF5"/>
                </a:solidFill>
                <a:latin typeface="Roboto"/>
              </a:rPr>
              <a:t>VS Code upgrades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6172200" cy="755904"/>
          </a:xfrm>
        </p:spPr>
        <p:txBody>
          <a:bodyPr wrap="square" anchor="t" lIns="0" rIns="0" tIns="0" bIns="0"/>
          <a:lstStyle/>
          <a:p>
            <a:pPr algn="l"/>
            <a:r>
              <a:rPr sz="4000" b="1" lang="en-US">
                <a:solidFill>
                  <a:srgbClr val="EAEFF5"/>
                </a:solidFill>
                <a:latin typeface="Roboto"/>
              </a:rPr>
              <a:t>Per-subagent effort levels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Idea card" descr=""/>
          <p:cNvSpPr/>
          <p:nvPr/>
        </p:nvSpPr>
        <p:spPr>
          <a:xfrm>
            <a:off x="731520" y="2218944"/>
            <a:ext cx="3108960" cy="4029455"/>
          </a:xfrm>
          <a:prstGeom prst="roundRect">
            <a:avLst>
              <a:gd name="adj" fmla="val 5000"/>
            </a:avLst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umber"/>
          <p:cNvSpPr txBox="1"/>
          <p:nvPr/>
        </p:nvSpPr>
        <p:spPr>
          <a:xfrm>
            <a:off x="1005840" y="2493264"/>
            <a:ext cx="2560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lang="en-US">
                <a:solidFill>
                  <a:srgbClr val="8D98FF"/>
                </a:solidFill>
                <a:latin typeface="Roboto"/>
              </a:rPr>
              <a:t>05</a:t>
            </a:r>
          </a:p>
        </p:txBody>
      </p:sp>
      <p:sp>
        <p:nvSpPr>
          <p:cNvPr id="6" name="Sub"/>
          <p:cNvSpPr txBox="1"/>
          <p:nvPr/>
        </p:nvSpPr>
        <p:spPr>
          <a:xfrm>
            <a:off x="1005840" y="56083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lang="en-US">
                <a:solidFill>
                  <a:srgbClr val="9CA5B1"/>
                </a:solidFill>
                <a:latin typeface="Roboto"/>
              </a:rPr>
              <a:t>Oct 6, 2026</a:t>
            </a:r>
          </a:p>
        </p:txBody>
      </p:sp>
      <p:sp>
        <p:nvSpPr>
          <p:cNvPr id="7" name="Value"/>
          <p:cNvSpPr txBox="1"/>
          <p:nvPr/>
        </p:nvSpPr>
        <p:spPr>
          <a:xfrm>
            <a:off x="1005840" y="510540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lang="en-US">
                <a:solidFill>
                  <a:srgbClr val="EAEFF5"/>
                </a:solidFill>
                <a:latin typeface="Roboto"/>
              </a:rPr>
              <a:t>v2.1.292</a:t>
            </a:r>
          </a:p>
        </p:txBody>
      </p:sp>
      <p:sp>
        <p:nvSpPr>
          <p:cNvPr id="8" name="Caption"/>
          <p:cNvSpPr txBox="1"/>
          <p:nvPr/>
        </p:nvSpPr>
        <p:spPr>
          <a:xfrm>
            <a:off x="1005840" y="46482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lang="en-US">
                <a:solidFill>
                  <a:srgbClr val="2AC4CE"/>
                </a:solidFill>
                <a:latin typeface="Roboto"/>
              </a:rPr>
              <a:t>SHIPPED IN</a:t>
            </a:r>
          </a:p>
        </p:txBody>
      </p:sp>
      <p:sp>
        <p:nvSpPr>
          <p:cNvPr id="9" name="Bubble 1" descr=""/>
          <p:cNvSpPr/>
          <p:nvPr/>
        </p:nvSpPr>
        <p:spPr>
          <a:xfrm>
            <a:off x="4389120" y="2328672"/>
            <a:ext cx="201168" cy="201168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 1"/>
          <p:cNvSpPr txBox="1"/>
          <p:nvPr/>
        </p:nvSpPr>
        <p:spPr>
          <a:xfrm>
            <a:off x="4846320" y="2218944"/>
            <a:ext cx="6613855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lang="en-US">
                <a:solidFill>
                  <a:srgbClr val="EAEFF5"/>
                </a:solidFill>
                <a:latin typeface="Roboto"/>
              </a:rPr>
              <a:t>New parameter</a:t>
            </a:r>
          </a:p>
        </p:txBody>
      </p:sp>
      <p:sp>
        <p:nvSpPr>
          <p:cNvPr id="11" name="Detail 1"/>
          <p:cNvSpPr txBox="1"/>
          <p:nvPr/>
        </p:nvSpPr>
        <p:spPr>
          <a:xfrm>
            <a:off x="4846320" y="2639568"/>
            <a:ext cx="4617720" cy="35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The Agent tool now takes an effort level</a:t>
            </a:r>
          </a:p>
        </p:txBody>
      </p:sp>
      <p:sp>
        <p:nvSpPr>
          <p:cNvPr id="12" name="Bubble 2" descr=""/>
          <p:cNvSpPr/>
          <p:nvPr/>
        </p:nvSpPr>
        <p:spPr>
          <a:xfrm>
            <a:off x="4389120" y="3310128"/>
            <a:ext cx="201168" cy="201168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 2"/>
          <p:cNvSpPr txBox="1"/>
          <p:nvPr/>
        </p:nvSpPr>
        <p:spPr>
          <a:xfrm>
            <a:off x="4846320" y="3200400"/>
            <a:ext cx="6613855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lang="en-US">
                <a:solidFill>
                  <a:srgbClr val="EAEFF5"/>
                </a:solidFill>
                <a:latin typeface="Roboto"/>
              </a:rPr>
              <a:t>You choose</a:t>
            </a:r>
          </a:p>
        </p:txBody>
      </p:sp>
      <p:sp>
        <p:nvSpPr>
          <p:cNvPr id="14" name="Detail 2"/>
          <p:cNvSpPr txBox="1"/>
          <p:nvPr/>
        </p:nvSpPr>
        <p:spPr>
          <a:xfrm>
            <a:off x="4846320" y="3621024"/>
            <a:ext cx="5623560" cy="35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Claude runs a sub-agent at the effort you ask for</a:t>
            </a:r>
          </a:p>
        </p:txBody>
      </p:sp>
      <p:sp>
        <p:nvSpPr>
          <p:cNvPr id="15" name="Bubble 3" descr=""/>
          <p:cNvSpPr/>
          <p:nvPr/>
        </p:nvSpPr>
        <p:spPr>
          <a:xfrm>
            <a:off x="4389120" y="4291584"/>
            <a:ext cx="201168" cy="201168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el 3"/>
          <p:cNvSpPr txBox="1"/>
          <p:nvPr/>
        </p:nvSpPr>
        <p:spPr>
          <a:xfrm>
            <a:off x="4846320" y="4181856"/>
            <a:ext cx="6613855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lang="en-US">
                <a:solidFill>
                  <a:srgbClr val="EAEFF5"/>
                </a:solidFill>
                <a:latin typeface="Roboto"/>
              </a:rPr>
              <a:t>Mix and match</a:t>
            </a:r>
          </a:p>
        </p:txBody>
      </p:sp>
      <p:sp>
        <p:nvSpPr>
          <p:cNvPr id="17" name="Detail 3"/>
          <p:cNvSpPr txBox="1"/>
          <p:nvPr/>
        </p:nvSpPr>
        <p:spPr>
          <a:xfrm>
            <a:off x="4846320" y="4602480"/>
            <a:ext cx="3429000" cy="664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Quick low-effort lookups next to deep high-effort reasoning</a:t>
            </a:r>
          </a:p>
        </p:txBody>
      </p:sp>
      <p:sp>
        <p:nvSpPr>
          <p:cNvPr id="18" name="Bubble 4" descr=""/>
          <p:cNvSpPr/>
          <p:nvPr/>
        </p:nvSpPr>
        <p:spPr>
          <a:xfrm>
            <a:off x="4389120" y="5577840"/>
            <a:ext cx="201168" cy="201168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el 4"/>
          <p:cNvSpPr txBox="1"/>
          <p:nvPr/>
        </p:nvSpPr>
        <p:spPr>
          <a:xfrm>
            <a:off x="4846320" y="5468112"/>
            <a:ext cx="6613855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lang="en-US">
                <a:solidFill>
                  <a:srgbClr val="EAEFF5"/>
                </a:solidFill>
                <a:latin typeface="Roboto"/>
              </a:rPr>
              <a:t>Visibility</a:t>
            </a:r>
          </a:p>
        </p:txBody>
      </p:sp>
      <p:sp>
        <p:nvSpPr>
          <p:cNvPr id="20" name="Detail 4"/>
          <p:cNvSpPr txBox="1"/>
          <p:nvPr/>
        </p:nvSpPr>
        <p:spPr>
          <a:xfrm>
            <a:off x="4846320" y="5888736"/>
            <a:ext cx="6217920" cy="35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Status line payloads now include agentType (2.1.293)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755904"/>
          </a:xfrm>
        </p:spPr>
        <p:txBody>
          <a:bodyPr wrap="square" anchor="t" lIns="0" rIns="0" tIns="0" bIns="0"/>
          <a:lstStyle/>
          <a:p>
            <a:pPr algn="l"/>
            <a:r>
              <a:rPr sz="4000" b="1" lang="en-US">
                <a:solidFill>
                  <a:srgbClr val="EAEFF5"/>
                </a:solidFill>
                <a:latin typeface="Roboto"/>
              </a:rPr>
              <a:t>A lone callout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Card 1" descr=""/>
          <p:cNvSpPr/>
          <p:nvPr/>
        </p:nvSpPr>
        <p:spPr>
          <a:xfrm>
            <a:off x="731520" y="2218944"/>
            <a:ext cx="6949440" cy="1664208"/>
          </a:xfrm>
          <a:prstGeom prst="roundRect">
            <a:avLst>
              <a:gd name="adj" fmla="val 7000"/>
            </a:avLst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 1"/>
          <p:cNvSpPr txBox="1"/>
          <p:nvPr/>
        </p:nvSpPr>
        <p:spPr>
          <a:xfrm>
            <a:off x="1005840" y="2493264"/>
            <a:ext cx="6400800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en-US">
                <a:solidFill>
                  <a:srgbClr val="EAEFF5"/>
                </a:solidFill>
                <a:latin typeface="Roboto"/>
              </a:rPr>
              <a:t>Warning</a:t>
            </a:r>
          </a:p>
        </p:txBody>
      </p:sp>
      <p:sp>
        <p:nvSpPr>
          <p:cNvPr id="6" name="Text 1"/>
          <p:cNvSpPr txBox="1"/>
          <p:nvPr/>
        </p:nvSpPr>
        <p:spPr>
          <a:xfrm>
            <a:off x="1005840" y="3127248"/>
            <a:ext cx="6400800" cy="481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lang="en-US">
                <a:solidFill>
                  <a:srgbClr val="9CA5B1"/>
                </a:solidFill>
                <a:latin typeface="Roboto"/>
              </a:rPr>
              <a:t>Check the changelog before you plan an upgrade.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</dc:title>
  <dc:subject/>
  <dc:creator>A2UI Catalog</dc:creator>
  <cp:keywords>target=google-slides</cp:keywords>
  <dc:description>generated using python-pptx</dc:description>
  <cp:lastModifiedBy>Steve Canny</cp:lastModifiedBy>
  <cp:revision>1</cp:revision>
  <dcterms:created xsi:type="dcterms:W3CDTF">2026-10-08T08:00:00Z</dcterms:created>
  <dcterms:modified xsi:type="dcterms:W3CDTF">2026-10-08T08:00:00Z</dcterms:modified>
  <cp:category/>
  <dc:language>en-US</dc:language>
</cp:coreProperties>
</file>