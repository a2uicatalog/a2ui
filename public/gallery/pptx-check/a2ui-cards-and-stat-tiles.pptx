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istics"/>
          <p:cNvSpPr>
            <a:spLocks noGrp="1"/>
          </p:cNvSpPr>
          <p:nvPr>
            <p:ph type="title"/>
          </p:nvPr>
        </p:nvSpPr>
        <p:spPr>
          <a:xfrm>
            <a:off x="731520" y="1674876"/>
            <a:ext cx="7315200" cy="411480"/>
          </a:xfrm>
        </p:spPr>
        <p:txBody>
          <a:bodyPr wrap="square" anchor="t" lIns="0" rIns="0" tIns="0" bIns="0"/>
          <a:lstStyle/>
          <a:p>
            <a:pPr algn="l"/>
            <a:r>
              <a:rPr sz="1800" b="1" lang="en-US">
                <a:solidFill>
                  <a:srgbClr val="2AC4CE"/>
                </a:solidFill>
                <a:latin typeface="Roboto"/>
              </a:rPr>
              <a:t>THE LAST NINE DAYS IN NUMBERS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Card 1" descr=""/>
          <p:cNvSpPr/>
          <p:nvPr/>
        </p:nvSpPr>
        <p:spPr>
          <a:xfrm>
            <a:off x="731520" y="2452116"/>
            <a:ext cx="2476423" cy="327964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Value 1"/>
          <p:cNvSpPr txBox="1"/>
          <p:nvPr/>
        </p:nvSpPr>
        <p:spPr>
          <a:xfrm>
            <a:off x="1005840" y="2726436"/>
            <a:ext cx="1927783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lang="en-US">
                <a:solidFill>
                  <a:srgbClr val="8D98FF"/>
                </a:solidFill>
                <a:latin typeface="Roboto"/>
              </a:rPr>
              <a:t>10</a:t>
            </a:r>
          </a:p>
        </p:txBody>
      </p:sp>
      <p:sp>
        <p:nvSpPr>
          <p:cNvPr id="6" name="Label 1"/>
          <p:cNvSpPr txBox="1"/>
          <p:nvPr/>
        </p:nvSpPr>
        <p:spPr>
          <a:xfrm>
            <a:off x="1005840" y="3750564"/>
            <a:ext cx="1927783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releases shipped</a:t>
            </a:r>
          </a:p>
        </p:txBody>
      </p:sp>
      <p:sp>
        <p:nvSpPr>
          <p:cNvPr id="7" name="Sub 1"/>
          <p:cNvSpPr txBox="1"/>
          <p:nvPr/>
        </p:nvSpPr>
        <p:spPr>
          <a:xfrm>
            <a:off x="1005840" y="4701540"/>
            <a:ext cx="1927783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2.1.286 to 2.1.295</a:t>
            </a:r>
          </a:p>
        </p:txBody>
      </p:sp>
      <p:sp>
        <p:nvSpPr>
          <p:cNvPr id="8" name="Card 2" descr=""/>
          <p:cNvSpPr/>
          <p:nvPr/>
        </p:nvSpPr>
        <p:spPr>
          <a:xfrm>
            <a:off x="3482263" y="2452116"/>
            <a:ext cx="2476423" cy="327964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alue 2"/>
          <p:cNvSpPr txBox="1"/>
          <p:nvPr/>
        </p:nvSpPr>
        <p:spPr>
          <a:xfrm>
            <a:off x="3756583" y="2726436"/>
            <a:ext cx="1927783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lang="en-US">
                <a:solidFill>
                  <a:srgbClr val="2AC4CE"/>
                </a:solidFill>
                <a:latin typeface="Roboto"/>
              </a:rPr>
              <a:t>1M</a:t>
            </a:r>
          </a:p>
        </p:txBody>
      </p:sp>
      <p:sp>
        <p:nvSpPr>
          <p:cNvPr id="10" name="Label 2"/>
          <p:cNvSpPr txBox="1"/>
          <p:nvPr/>
        </p:nvSpPr>
        <p:spPr>
          <a:xfrm>
            <a:off x="3756583" y="3750564"/>
            <a:ext cx="1927783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token context</a:t>
            </a:r>
          </a:p>
        </p:txBody>
      </p:sp>
      <p:sp>
        <p:nvSpPr>
          <p:cNvPr id="11" name="Sub 2"/>
          <p:cNvSpPr txBox="1"/>
          <p:nvPr/>
        </p:nvSpPr>
        <p:spPr>
          <a:xfrm>
            <a:off x="3756583" y="4701540"/>
            <a:ext cx="1927783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Claude Haiku 5.5</a:t>
            </a:r>
          </a:p>
        </p:txBody>
      </p:sp>
      <p:sp>
        <p:nvSpPr>
          <p:cNvPr id="12" name="Card 3" descr=""/>
          <p:cNvSpPr/>
          <p:nvPr/>
        </p:nvSpPr>
        <p:spPr>
          <a:xfrm>
            <a:off x="6233007" y="2452116"/>
            <a:ext cx="2476423" cy="327964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alue 3"/>
          <p:cNvSpPr txBox="1"/>
          <p:nvPr/>
        </p:nvSpPr>
        <p:spPr>
          <a:xfrm>
            <a:off x="6507327" y="2726436"/>
            <a:ext cx="1927783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lang="en-US">
                <a:solidFill>
                  <a:srgbClr val="8D98FF"/>
                </a:solidFill>
                <a:latin typeface="Roboto"/>
              </a:rPr>
              <a:t>$0.10</a:t>
            </a:r>
          </a:p>
        </p:txBody>
      </p:sp>
      <p:sp>
        <p:nvSpPr>
          <p:cNvPr id="14" name="Label 3"/>
          <p:cNvSpPr txBox="1"/>
          <p:nvPr/>
        </p:nvSpPr>
        <p:spPr>
          <a:xfrm>
            <a:off x="6507327" y="3750564"/>
            <a:ext cx="1927783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per Mtok input</a:t>
            </a:r>
          </a:p>
        </p:txBody>
      </p:sp>
      <p:sp>
        <p:nvSpPr>
          <p:cNvPr id="15" name="Sub 3"/>
          <p:cNvSpPr txBox="1"/>
          <p:nvPr/>
        </p:nvSpPr>
        <p:spPr>
          <a:xfrm>
            <a:off x="6507327" y="4701540"/>
            <a:ext cx="1927783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Claude Haiku 5.5</a:t>
            </a:r>
          </a:p>
        </p:txBody>
      </p:sp>
      <p:sp>
        <p:nvSpPr>
          <p:cNvPr id="16" name="Card 4" descr=""/>
          <p:cNvSpPr/>
          <p:nvPr/>
        </p:nvSpPr>
        <p:spPr>
          <a:xfrm>
            <a:off x="8983751" y="2452116"/>
            <a:ext cx="2476423" cy="327964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alue 4"/>
          <p:cNvSpPr txBox="1"/>
          <p:nvPr/>
        </p:nvSpPr>
        <p:spPr>
          <a:xfrm>
            <a:off x="9258071" y="2726436"/>
            <a:ext cx="1927783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lang="en-US">
                <a:solidFill>
                  <a:srgbClr val="2AC4CE"/>
                </a:solidFill>
                <a:latin typeface="Roboto"/>
              </a:rPr>
              <a:t>300+</a:t>
            </a:r>
          </a:p>
        </p:txBody>
      </p:sp>
      <p:sp>
        <p:nvSpPr>
          <p:cNvPr id="18" name="Label 4"/>
          <p:cNvSpPr txBox="1"/>
          <p:nvPr/>
        </p:nvSpPr>
        <p:spPr>
          <a:xfrm>
            <a:off x="9258071" y="3750564"/>
            <a:ext cx="1927783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bug fixes</a:t>
            </a:r>
          </a:p>
        </p:txBody>
      </p:sp>
      <p:sp>
        <p:nvSpPr>
          <p:cNvPr id="19" name="Sub 4"/>
          <p:cNvSpPr txBox="1"/>
          <p:nvPr/>
        </p:nvSpPr>
        <p:spPr>
          <a:xfrm>
            <a:off x="9258071" y="4701540"/>
            <a:ext cx="1927783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lang="en-US">
                <a:solidFill>
                  <a:srgbClr val="9CA5B1"/>
                </a:solidFill>
                <a:latin typeface="Roboto"/>
              </a:rPr>
              <a:t>across the releases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ing"/>
          <p:cNvSpPr>
            <a:spLocks noGrp="1"/>
          </p:cNvSpPr>
          <p:nvPr>
            <p:ph type="title"/>
          </p:nvPr>
        </p:nvSpPr>
        <p:spPr>
          <a:xfrm>
            <a:off x="731520" y="1051560"/>
            <a:ext cx="6263640" cy="755904"/>
          </a:xfrm>
        </p:spPr>
        <p:txBody>
          <a:bodyPr wrap="square" anchor="t" lIns="0" rIns="0" tIns="0" bIns="0"/>
          <a:lstStyle/>
          <a:p>
            <a:pPr algn="l"/>
            <a:r>
              <a:rPr sz="4000" b="1" lang="en-US">
                <a:solidFill>
                  <a:srgbClr val="EAEFF5"/>
                </a:solidFill>
                <a:latin typeface="Roboto"/>
              </a:rPr>
              <a:t>Three ideas worth keeping</a:t>
            </a:r>
          </a:p>
        </p:txBody>
      </p:sp>
      <p:sp>
        <p:nvSpPr>
          <p:cNvPr id="3" name="Wordmark"/>
          <p:cNvSpPr txBox="1"/>
          <p:nvPr/>
        </p:nvSpPr>
        <p:spPr>
          <a:xfrm>
            <a:off x="731520" y="502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lang="en-US">
                <a:solidFill>
                  <a:srgbClr val="8D98FF"/>
                </a:solidFill>
                <a:latin typeface="Roboto"/>
              </a:rPr>
              <a:t>A2UI</a:t>
            </a:r>
            <a:r>
              <a:rPr sz="2200" b="1" lang="en-US">
                <a:solidFill>
                  <a:srgbClr val="EAEFF5"/>
                </a:solidFill>
                <a:latin typeface="Roboto"/>
              </a:rPr>
              <a:t> Catalog</a:t>
            </a:r>
          </a:p>
        </p:txBody>
      </p:sp>
      <p:sp>
        <p:nvSpPr>
          <p:cNvPr id="4" name="Card 1" descr=""/>
          <p:cNvSpPr/>
          <p:nvPr/>
        </p:nvSpPr>
        <p:spPr>
          <a:xfrm>
            <a:off x="731520" y="2218944"/>
            <a:ext cx="3393338" cy="375208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umber 1" descr=""/>
          <p:cNvSpPr/>
          <p:nvPr/>
        </p:nvSpPr>
        <p:spPr>
          <a:xfrm>
            <a:off x="1005840" y="2493264"/>
            <a:ext cx="502920" cy="50292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1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005840" y="3179064"/>
            <a:ext cx="2844698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EAEFF5"/>
                </a:solidFill>
                <a:latin typeface="Roboto"/>
              </a:rPr>
              <a:t>Mods change deeper behavior</a:t>
            </a:r>
          </a:p>
        </p:txBody>
      </p:sp>
      <p:sp>
        <p:nvSpPr>
          <p:cNvPr id="7" name="Text 1"/>
          <p:cNvSpPr txBox="1"/>
          <p:nvPr/>
        </p:nvSpPr>
        <p:spPr>
          <a:xfrm>
            <a:off x="1005840" y="4209288"/>
            <a:ext cx="2844698" cy="1487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lang="en-US">
                <a:solidFill>
                  <a:srgbClr val="9CA5B1"/>
                </a:solidFill>
                <a:latin typeface="Roboto"/>
              </a:rPr>
              <a:t>Plugins can now hook events, draw their own panes and raise notifications.</a:t>
            </a:r>
          </a:p>
        </p:txBody>
      </p:sp>
      <p:sp>
        <p:nvSpPr>
          <p:cNvPr id="8" name="Card 2" descr=""/>
          <p:cNvSpPr/>
          <p:nvPr/>
        </p:nvSpPr>
        <p:spPr>
          <a:xfrm>
            <a:off x="4399178" y="2218944"/>
            <a:ext cx="3393338" cy="375208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umber 2" descr=""/>
          <p:cNvSpPr/>
          <p:nvPr/>
        </p:nvSpPr>
        <p:spPr>
          <a:xfrm>
            <a:off x="4673498" y="2493264"/>
            <a:ext cx="502920" cy="50292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2</a:t>
            </a:r>
          </a:p>
        </p:txBody>
      </p:sp>
      <p:sp>
        <p:nvSpPr>
          <p:cNvPr id="10" name="Title 2"/>
          <p:cNvSpPr txBox="1"/>
          <p:nvPr/>
        </p:nvSpPr>
        <p:spPr>
          <a:xfrm>
            <a:off x="4673498" y="3179064"/>
            <a:ext cx="2844698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lang="en-US">
                <a:solidFill>
                  <a:srgbClr val="EAEFF5"/>
                </a:solidFill>
                <a:latin typeface="Roboto"/>
              </a:rPr>
              <a:t>A side agent watches your back</a:t>
            </a:r>
          </a:p>
        </p:txBody>
      </p:sp>
      <p:sp>
        <p:nvSpPr>
          <p:cNvPr id="11" name="Text 2"/>
          <p:cNvSpPr txBox="1"/>
          <p:nvPr/>
        </p:nvSpPr>
        <p:spPr>
          <a:xfrm>
            <a:off x="4673498" y="4209288"/>
            <a:ext cx="2844698" cy="1487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lang="en-US">
                <a:solidFill>
                  <a:srgbClr val="9CA5B1"/>
                </a:solidFill>
                <a:latin typeface="Roboto"/>
              </a:rPr>
              <a:t>A built-in mod flags things you or Claude might miss.</a:t>
            </a:r>
          </a:p>
        </p:txBody>
      </p:sp>
      <p:sp>
        <p:nvSpPr>
          <p:cNvPr id="12" name="Card 3" descr=""/>
          <p:cNvSpPr/>
          <p:nvPr/>
        </p:nvSpPr>
        <p:spPr>
          <a:xfrm>
            <a:off x="8066836" y="2218944"/>
            <a:ext cx="3393338" cy="3752088"/>
          </a:xfrm>
          <a:prstGeom prst="roundRect">
            <a:avLst>
              <a:gd name="adj" fmla="val 7000"/>
            </a:avLst>
          </a:prstGeom>
          <a:solidFill>
            <a:srgbClr val="2D3642"/>
          </a:solidFill>
          <a:ln w="15875">
            <a:solidFill>
              <a:srgbClr val="464E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umber 3" descr=""/>
          <p:cNvSpPr/>
          <p:nvPr/>
        </p:nvSpPr>
        <p:spPr>
          <a:xfrm>
            <a:off x="8341156" y="2493264"/>
            <a:ext cx="502920" cy="502920"/>
          </a:xfrm>
          <a:prstGeom prst="ellipse">
            <a:avLst/>
          </a:prstGeom>
          <a:solidFill>
            <a:srgbClr val="8D9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lang="en-US">
                <a:solidFill>
                  <a:srgbClr val="060C13"/>
                </a:solidFill>
                <a:latin typeface="Roboto"/>
              </a:rPr>
              <a:t>3</a:t>
            </a:r>
          </a:p>
        </p:txBody>
      </p:sp>
      <p:sp>
        <p:nvSpPr>
          <p:cNvPr id="14" name="Title 3"/>
          <p:cNvSpPr txBox="1"/>
          <p:nvPr/>
        </p:nvSpPr>
        <p:spPr>
          <a:xfrm>
            <a:off x="8341156" y="3179064"/>
            <a:ext cx="2844698" cy="938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lang="en-US">
                <a:solidFill>
                  <a:srgbClr val="EAEFF5"/>
                </a:solidFill>
                <a:latin typeface="Roboto"/>
              </a:rPr>
              <a:t>Fail-closed hooks</a:t>
            </a:r>
          </a:p>
        </p:txBody>
      </p:sp>
      <p:sp>
        <p:nvSpPr>
          <p:cNvPr id="15" name="Text 3"/>
          <p:cNvSpPr txBox="1"/>
          <p:nvPr/>
        </p:nvSpPr>
        <p:spPr>
          <a:xfrm>
            <a:off x="8341156" y="4209288"/>
            <a:ext cx="2844698" cy="1487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lang="en-US">
                <a:solidFill>
                  <a:srgbClr val="9CA5B1"/>
                </a:solidFill>
                <a:latin typeface="Roboto"/>
              </a:rPr>
              <a:t>A broken guard hook now blocks the action instead of letting it 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Cards</dc:title>
  <dc:subject/>
  <dc:creator>A2UI Catalog</dc:creator>
  <cp:keywords>target=google-slides</cp:keywords>
  <dc:description>generated using python-pptx</dc:description>
  <cp:lastModifiedBy>Steve Canny</cp:lastModifiedBy>
  <cp:revision>1</cp:revision>
  <dcterms:created xsi:type="dcterms:W3CDTF">2026-10-08T08:00:00Z</dcterms:created>
  <dcterms:modified xsi:type="dcterms:W3CDTF">2026-10-08T08:00:00Z</dcterms:modified>
  <cp:category/>
  <dc:language>en-US</dc:language>
</cp:coreProperties>
</file>