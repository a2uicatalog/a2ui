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a2uicatalog.ai" TargetMode="External"/><Relationship Id="rId3" Type="http://schemas.openxmlformats.org/officeDocument/2006/relationships/hyperlink" Target="https://a2uicatalog.ai/what-is-a2ui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731520" y="3061716"/>
            <a:ext cx="6812280" cy="1152144"/>
          </a:xfrm>
        </p:spPr>
        <p:txBody>
          <a:bodyPr wrap="square" anchor="t" lIns="0" rIns="0" tIns="0" bIns="0"/>
          <a:lstStyle/>
          <a:p>
            <a:pPr algn="l"/>
            <a:r>
              <a:rPr sz="6600" b="1" lang="en-US">
                <a:solidFill>
                  <a:srgbClr val="EAEFF5"/>
                </a:solidFill>
                <a:latin typeface="Roboto"/>
              </a:rPr>
              <a:t>The A2UI Catalog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Eyebrow"/>
          <p:cNvSpPr txBox="1"/>
          <p:nvPr/>
        </p:nvSpPr>
        <p:spPr>
          <a:xfrm>
            <a:off x="731520" y="2375916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SLIDES SURFACE</a:t>
            </a:r>
          </a:p>
        </p:txBody>
      </p:sp>
      <p:sp>
        <p:nvSpPr>
          <p:cNvPr id="5" name="Subhead"/>
          <p:cNvSpPr txBox="1"/>
          <p:nvPr/>
        </p:nvSpPr>
        <p:spPr>
          <a:xfrm>
            <a:off x="731520" y="4488180"/>
            <a:ext cx="5989320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650 atoms. One schema. Every surface.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731520" y="3061716"/>
            <a:ext cx="6629400" cy="1152144"/>
          </a:xfrm>
        </p:spPr>
        <p:txBody>
          <a:bodyPr wrap="square" anchor="t" lIns="0" rIns="0" tIns="0" bIns="0"/>
          <a:lstStyle/>
          <a:p>
            <a:pPr algn="l"/>
            <a:r>
              <a:rPr sz="6600" b="1" lang="en-US">
                <a:solidFill>
                  <a:srgbClr val="EAEFF5"/>
                </a:solidFill>
                <a:latin typeface="Roboto"/>
              </a:rPr>
              <a:t>What this deck is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Eyebrow"/>
          <p:cNvSpPr txBox="1"/>
          <p:nvPr/>
        </p:nvSpPr>
        <p:spPr>
          <a:xfrm>
            <a:off x="731520" y="2375916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HOW IT WAS MADE</a:t>
            </a:r>
          </a:p>
        </p:txBody>
      </p:sp>
      <p:sp>
        <p:nvSpPr>
          <p:cNvPr id="5" name="Subhead"/>
          <p:cNvSpPr txBox="1"/>
          <p:nvPr/>
        </p:nvSpPr>
        <p:spPr>
          <a:xfrm>
            <a:off x="731520" y="4488180"/>
            <a:ext cx="6492240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Built from one A2UI payload, atom by atom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The idea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75438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An agent describes an interface as typed data.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3657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A renderer draws it.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5989320" cy="999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The same data can be a web page, an email, a PDF or, here, a slide deck.</a:t>
            </a:r>
          </a:p>
        </p:txBody>
      </p:sp>
      <p:sp>
        <p:nvSpPr>
          <p:cNvPr id="10" name="Bullet 4" descr=""/>
          <p:cNvSpPr/>
          <p:nvPr/>
        </p:nvSpPr>
        <p:spPr>
          <a:xfrm>
            <a:off x="731520" y="5407152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tem 4"/>
          <p:cNvSpPr txBox="1"/>
          <p:nvPr/>
        </p:nvSpPr>
        <p:spPr>
          <a:xfrm>
            <a:off x="1188720" y="5193792"/>
            <a:ext cx="676656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Nothing in this deck was laid out by 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6629400" cy="1487423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Because decks are where decisions get made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316382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950464"/>
            <a:ext cx="466344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People still present in slides.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992879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779519"/>
            <a:ext cx="9372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If the catalog can speak slides, an agent can brief a room.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821935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4608575"/>
            <a:ext cx="649224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Layouts are fitted with real font metrics.</a:t>
            </a:r>
          </a:p>
        </p:txBody>
      </p:sp>
      <p:sp>
        <p:nvSpPr>
          <p:cNvPr id="10" name="Bullet 4" descr=""/>
          <p:cNvSpPr/>
          <p:nvPr/>
        </p:nvSpPr>
        <p:spPr>
          <a:xfrm>
            <a:off x="731520" y="5650991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tem 4"/>
          <p:cNvSpPr txBox="1"/>
          <p:nvPr/>
        </p:nvSpPr>
        <p:spPr>
          <a:xfrm>
            <a:off x="1188720" y="5437631"/>
            <a:ext cx="758952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Unsupported atoms are reported, not guessed.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Open source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5852160" cy="999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The converter, the recipes and the tests are plain files in the repository.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749039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535679"/>
            <a:ext cx="745236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Add a recipe and a new atom works on slides.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Rule of thumb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585216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If an atom is static, it can be a slide.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52578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If it needs a click, it needs a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istics"/>
          <p:cNvSpPr>
            <a:spLocks noGrp="1"/>
          </p:cNvSpPr>
          <p:nvPr>
            <p:ph type="title"/>
          </p:nvPr>
        </p:nvSpPr>
        <p:spPr>
          <a:xfrm>
            <a:off x="731520" y="1949196"/>
            <a:ext cx="7315200" cy="411480"/>
          </a:xfrm>
        </p:spPr>
        <p:txBody>
          <a:bodyPr wrap="square" anchor="t" lIns="0" rIns="0" tIns="0" bIns="0"/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BY THE NUMBERS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Value 1"/>
          <p:cNvSpPr txBox="1"/>
          <p:nvPr/>
        </p:nvSpPr>
        <p:spPr>
          <a:xfrm>
            <a:off x="731520" y="2726436"/>
            <a:ext cx="2339263" cy="1609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lang="en-US">
                <a:solidFill>
                  <a:srgbClr val="8D98FF"/>
                </a:solidFill>
                <a:latin typeface="Roboto"/>
              </a:rPr>
              <a:t>650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31520" y="4518660"/>
            <a:ext cx="2339263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atoms</a:t>
            </a:r>
          </a:p>
        </p:txBody>
      </p:sp>
      <p:sp>
        <p:nvSpPr>
          <p:cNvPr id="6" name="Value 2"/>
          <p:cNvSpPr txBox="1"/>
          <p:nvPr/>
        </p:nvSpPr>
        <p:spPr>
          <a:xfrm>
            <a:off x="3527983" y="2726436"/>
            <a:ext cx="2339263" cy="1609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lang="en-US">
                <a:solidFill>
                  <a:srgbClr val="2AC4CE"/>
                </a:solidFill>
                <a:latin typeface="Roboto"/>
              </a:rPr>
              <a:t>28</a:t>
            </a:r>
          </a:p>
        </p:txBody>
      </p:sp>
      <p:sp>
        <p:nvSpPr>
          <p:cNvPr id="7" name="Label 2"/>
          <p:cNvSpPr txBox="1"/>
          <p:nvPr/>
        </p:nvSpPr>
        <p:spPr>
          <a:xfrm>
            <a:off x="3527983" y="4518660"/>
            <a:ext cx="2339263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on slides</a:t>
            </a:r>
          </a:p>
        </p:txBody>
      </p:sp>
      <p:sp>
        <p:nvSpPr>
          <p:cNvPr id="8" name="Value 3"/>
          <p:cNvSpPr txBox="1"/>
          <p:nvPr/>
        </p:nvSpPr>
        <p:spPr>
          <a:xfrm>
            <a:off x="6324447" y="2726436"/>
            <a:ext cx="2339263" cy="1609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lang="en-US">
                <a:solidFill>
                  <a:srgbClr val="EAEFF5"/>
                </a:solidFill>
                <a:latin typeface="Roboto"/>
              </a:rPr>
              <a:t>6</a:t>
            </a:r>
          </a:p>
        </p:txBody>
      </p:sp>
      <p:sp>
        <p:nvSpPr>
          <p:cNvPr id="9" name="Label 3"/>
          <p:cNvSpPr txBox="1"/>
          <p:nvPr/>
        </p:nvSpPr>
        <p:spPr>
          <a:xfrm>
            <a:off x="6324447" y="4518660"/>
            <a:ext cx="2339263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slide layouts</a:t>
            </a:r>
          </a:p>
        </p:txBody>
      </p:sp>
      <p:sp>
        <p:nvSpPr>
          <p:cNvPr id="10" name="Value 4"/>
          <p:cNvSpPr txBox="1"/>
          <p:nvPr/>
        </p:nvSpPr>
        <p:spPr>
          <a:xfrm>
            <a:off x="9120911" y="2726436"/>
            <a:ext cx="2339263" cy="1609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lang="en-US">
                <a:solidFill>
                  <a:srgbClr val="8D98FF"/>
                </a:solidFill>
                <a:latin typeface="Roboto"/>
              </a:rPr>
              <a:t>0</a:t>
            </a:r>
          </a:p>
        </p:txBody>
      </p:sp>
      <p:sp>
        <p:nvSpPr>
          <p:cNvPr id="11" name="Label 4"/>
          <p:cNvSpPr txBox="1"/>
          <p:nvPr/>
        </p:nvSpPr>
        <p:spPr>
          <a:xfrm>
            <a:off x="9120911" y="4518660"/>
            <a:ext cx="2339263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hand-placed shapes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istics"/>
          <p:cNvSpPr>
            <a:spLocks noGrp="1"/>
          </p:cNvSpPr>
          <p:nvPr>
            <p:ph type="title"/>
          </p:nvPr>
        </p:nvSpPr>
        <p:spPr>
          <a:xfrm>
            <a:off x="731520" y="2040636"/>
            <a:ext cx="7315200" cy="411480"/>
          </a:xfrm>
        </p:spPr>
        <p:txBody>
          <a:bodyPr wrap="square" anchor="t" lIns="0" rIns="0" tIns="0" bIns="0"/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KEY FIGURES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Value 1"/>
          <p:cNvSpPr txBox="1"/>
          <p:nvPr/>
        </p:nvSpPr>
        <p:spPr>
          <a:xfrm>
            <a:off x="731520" y="2817876"/>
            <a:ext cx="10728655" cy="1822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lang="en-US">
                <a:solidFill>
                  <a:srgbClr val="8D98FF"/>
                </a:solidFill>
                <a:latin typeface="Roboto"/>
              </a:rPr>
              <a:t>98%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31520" y="4823460"/>
            <a:ext cx="10728655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web and email renderers agree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istics"/>
          <p:cNvSpPr>
            <a:spLocks noGrp="1"/>
          </p:cNvSpPr>
          <p:nvPr>
            <p:ph type="title"/>
          </p:nvPr>
        </p:nvSpPr>
        <p:spPr>
          <a:xfrm>
            <a:off x="731520" y="2040636"/>
            <a:ext cx="7315200" cy="411480"/>
          </a:xfrm>
        </p:spPr>
        <p:txBody>
          <a:bodyPr wrap="square" anchor="t" lIns="0" rIns="0" tIns="0" bIns="0"/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KEY FIGURES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Value 1"/>
          <p:cNvSpPr txBox="1"/>
          <p:nvPr/>
        </p:nvSpPr>
        <p:spPr>
          <a:xfrm>
            <a:off x="731520" y="2817876"/>
            <a:ext cx="3271418" cy="1822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lang="en-US">
                <a:solidFill>
                  <a:srgbClr val="8D98FF"/>
                </a:solidFill>
                <a:latin typeface="Roboto"/>
              </a:rPr>
              <a:t>3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31520" y="4823460"/>
            <a:ext cx="3271418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surfaces checked</a:t>
            </a:r>
          </a:p>
        </p:txBody>
      </p:sp>
      <p:sp>
        <p:nvSpPr>
          <p:cNvPr id="6" name="Value 2"/>
          <p:cNvSpPr txBox="1"/>
          <p:nvPr/>
        </p:nvSpPr>
        <p:spPr>
          <a:xfrm>
            <a:off x="4460138" y="2817876"/>
            <a:ext cx="3271418" cy="1822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lang="en-US">
                <a:solidFill>
                  <a:srgbClr val="2AC4CE"/>
                </a:solidFill>
                <a:latin typeface="Roboto"/>
              </a:rPr>
              <a:t>1</a:t>
            </a:r>
          </a:p>
        </p:txBody>
      </p:sp>
      <p:sp>
        <p:nvSpPr>
          <p:cNvPr id="7" name="Label 2"/>
          <p:cNvSpPr txBox="1"/>
          <p:nvPr/>
        </p:nvSpPr>
        <p:spPr>
          <a:xfrm>
            <a:off x="4460138" y="4823460"/>
            <a:ext cx="3271418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payload</a:t>
            </a:r>
          </a:p>
        </p:txBody>
      </p:sp>
      <p:sp>
        <p:nvSpPr>
          <p:cNvPr id="8" name="Value 3"/>
          <p:cNvSpPr txBox="1"/>
          <p:nvPr/>
        </p:nvSpPr>
        <p:spPr>
          <a:xfrm>
            <a:off x="8188756" y="2817876"/>
            <a:ext cx="3271418" cy="1822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lang="en-US">
                <a:solidFill>
                  <a:srgbClr val="EAEFF5"/>
                </a:solidFill>
                <a:latin typeface="Roboto"/>
              </a:rPr>
              <a:t>2</a:t>
            </a:r>
          </a:p>
        </p:txBody>
      </p:sp>
      <p:sp>
        <p:nvSpPr>
          <p:cNvPr id="9" name="Label 3"/>
          <p:cNvSpPr txBox="1"/>
          <p:nvPr/>
        </p:nvSpPr>
        <p:spPr>
          <a:xfrm>
            <a:off x="8188756" y="4823460"/>
            <a:ext cx="3271418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file 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istics"/>
          <p:cNvSpPr>
            <a:spLocks noGrp="1"/>
          </p:cNvSpPr>
          <p:nvPr>
            <p:ph type="title"/>
          </p:nvPr>
        </p:nvSpPr>
        <p:spPr>
          <a:xfrm>
            <a:off x="731520" y="2040636"/>
            <a:ext cx="7315200" cy="411480"/>
          </a:xfrm>
        </p:spPr>
        <p:txBody>
          <a:bodyPr wrap="square" anchor="t" lIns="0" rIns="0" tIns="0" bIns="0"/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KEY FIGURES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Value 1"/>
          <p:cNvSpPr txBox="1"/>
          <p:nvPr/>
        </p:nvSpPr>
        <p:spPr>
          <a:xfrm>
            <a:off x="731520" y="2817876"/>
            <a:ext cx="10728655" cy="1822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lang="en-US">
                <a:solidFill>
                  <a:srgbClr val="8D98FF"/>
                </a:solidFill>
                <a:latin typeface="Roboto"/>
              </a:rPr>
              <a:t>1 payload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31520" y="4823460"/>
            <a:ext cx="10728655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drives a film, a deck and a live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istics"/>
          <p:cNvSpPr>
            <a:spLocks noGrp="1"/>
          </p:cNvSpPr>
          <p:nvPr>
            <p:ph type="title"/>
          </p:nvPr>
        </p:nvSpPr>
        <p:spPr>
          <a:xfrm>
            <a:off x="731520" y="2040636"/>
            <a:ext cx="7315200" cy="411480"/>
          </a:xfrm>
        </p:spPr>
        <p:txBody>
          <a:bodyPr wrap="square" anchor="t" lIns="0" rIns="0" tIns="0" bIns="0"/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KEY FIGURES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Value 1"/>
          <p:cNvSpPr txBox="1"/>
          <p:nvPr/>
        </p:nvSpPr>
        <p:spPr>
          <a:xfrm>
            <a:off x="731520" y="2817876"/>
            <a:ext cx="10728655" cy="1822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lang="en-US">
                <a:solidFill>
                  <a:srgbClr val="8D98FF"/>
                </a:solidFill>
                <a:latin typeface="Roboto"/>
              </a:rPr>
              <a:t>28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31520" y="4823460"/>
            <a:ext cx="10728655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Atoms on slides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Pipeline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41148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1. Agent writes a payload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534924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2. Recipes map atoms to layouts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52578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3. Text is fitted with font metrics</a:t>
            </a:r>
          </a:p>
        </p:txBody>
      </p:sp>
      <p:sp>
        <p:nvSpPr>
          <p:cNvPr id="10" name="Bullet 4" descr=""/>
          <p:cNvSpPr/>
          <p:nvPr/>
        </p:nvSpPr>
        <p:spPr>
          <a:xfrm>
            <a:off x="731520" y="4980432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tem 4"/>
          <p:cNvSpPr txBox="1"/>
          <p:nvPr/>
        </p:nvSpPr>
        <p:spPr>
          <a:xfrm>
            <a:off x="1188720" y="4767072"/>
            <a:ext cx="3657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4. PPTX is linted</a:t>
            </a:r>
          </a:p>
        </p:txBody>
      </p:sp>
      <p:sp>
        <p:nvSpPr>
          <p:cNvPr id="12" name="Bullet 5" descr=""/>
          <p:cNvSpPr/>
          <p:nvPr/>
        </p:nvSpPr>
        <p:spPr>
          <a:xfrm>
            <a:off x="731520" y="5809487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tem 5"/>
          <p:cNvSpPr txBox="1"/>
          <p:nvPr/>
        </p:nvSpPr>
        <p:spPr>
          <a:xfrm>
            <a:off x="1188720" y="5596127"/>
            <a:ext cx="402336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5. Google Slides opens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Build order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3657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Pick the atoms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3657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Run payload_to_deck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3657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Read the report</a:t>
            </a:r>
          </a:p>
        </p:txBody>
      </p:sp>
      <p:sp>
        <p:nvSpPr>
          <p:cNvPr id="10" name="Bullet 4" descr=""/>
          <p:cNvSpPr/>
          <p:nvPr/>
        </p:nvSpPr>
        <p:spPr>
          <a:xfrm>
            <a:off x="731520" y="4980432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tem 4"/>
          <p:cNvSpPr txBox="1"/>
          <p:nvPr/>
        </p:nvSpPr>
        <p:spPr>
          <a:xfrm>
            <a:off x="1188720" y="4767072"/>
            <a:ext cx="36576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Open in Google Slides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Steps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649224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Validate: exact errors, per slide and field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635508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Build: same input gives the same bytes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68580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Verify: converted by Google and read 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93776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What gets checked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45720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Fit: no text overflows its box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429768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Contrast: 4.5 to 1 or better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393192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Alt text: on every picture</a:t>
            </a:r>
          </a:p>
        </p:txBody>
      </p:sp>
      <p:sp>
        <p:nvSpPr>
          <p:cNvPr id="10" name="Bullet 4" descr=""/>
          <p:cNvSpPr/>
          <p:nvPr/>
        </p:nvSpPr>
        <p:spPr>
          <a:xfrm>
            <a:off x="731520" y="4980432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tem 4"/>
          <p:cNvSpPr txBox="1"/>
          <p:nvPr/>
        </p:nvSpPr>
        <p:spPr>
          <a:xfrm>
            <a:off x="1188720" y="4767072"/>
            <a:ext cx="548640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Notes: speaker notes where given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List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699516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Titles: a real title placeholder on every slide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8183879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Order: reading order is the order shapes are added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5303520" cy="999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Links: buttons link out, QR codes come from the schema_qr atom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816864"/>
          </a:xfrm>
        </p:spPr>
        <p:txBody>
          <a:bodyPr wrap="square" anchor="t" lIns="0" rIns="0" tIns="0" bIns="0"/>
          <a:lstStyle/>
          <a:p>
            <a:pPr algn="l"/>
            <a:r>
              <a:rPr sz="4400" b="1" lang="en-US">
                <a:solidFill>
                  <a:srgbClr val="EAEFF5"/>
                </a:solidFill>
                <a:latin typeface="Roboto"/>
              </a:rPr>
              <a:t>Next actions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llet 1" descr=""/>
          <p:cNvSpPr/>
          <p:nvPr/>
        </p:nvSpPr>
        <p:spPr>
          <a:xfrm>
            <a:off x="731520" y="2493264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tem 1"/>
          <p:cNvSpPr txBox="1"/>
          <p:nvPr/>
        </p:nvSpPr>
        <p:spPr>
          <a:xfrm>
            <a:off x="1188720" y="2279904"/>
            <a:ext cx="603504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Add pros and cons recipe (Curtis, Fri)</a:t>
            </a:r>
          </a:p>
        </p:txBody>
      </p:sp>
      <p:sp>
        <p:nvSpPr>
          <p:cNvPr id="6" name="Bullet 2" descr=""/>
          <p:cNvSpPr/>
          <p:nvPr/>
        </p:nvSpPr>
        <p:spPr>
          <a:xfrm>
            <a:off x="731520" y="3322320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tem 2"/>
          <p:cNvSpPr txBox="1"/>
          <p:nvPr/>
        </p:nvSpPr>
        <p:spPr>
          <a:xfrm>
            <a:off x="1188720" y="3108960"/>
            <a:ext cx="608076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Check in desktop PowerPoint (Curtis)</a:t>
            </a:r>
          </a:p>
        </p:txBody>
      </p:sp>
      <p:sp>
        <p:nvSpPr>
          <p:cNvPr id="8" name="Bullet 3" descr=""/>
          <p:cNvSpPr/>
          <p:nvPr/>
        </p:nvSpPr>
        <p:spPr>
          <a:xfrm>
            <a:off x="731520" y="4151376"/>
            <a:ext cx="146304" cy="146304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tem 3"/>
          <p:cNvSpPr txBox="1"/>
          <p:nvPr/>
        </p:nvSpPr>
        <p:spPr>
          <a:xfrm>
            <a:off x="1188720" y="3938016"/>
            <a:ext cx="6446520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lang="en-US">
                <a:solidFill>
                  <a:srgbClr val="EAEFF5"/>
                </a:solidFill>
                <a:latin typeface="Roboto"/>
              </a:rPr>
              <a:t>Publish the surface pages (Curtis, Mon)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6903720" cy="755904"/>
          </a:xfrm>
        </p:spPr>
        <p:txBody>
          <a:bodyPr wrap="square" anchor="t" lIns="0" rIns="0" tIns="0" bIns="0"/>
          <a:lstStyle/>
          <a:p>
            <a:pPr algn="l"/>
            <a:r>
              <a:rPr sz="4000" b="1" lang="en-US">
                <a:solidFill>
                  <a:srgbClr val="EAEFF5"/>
                </a:solidFill>
                <a:latin typeface="Roboto"/>
              </a:rPr>
              <a:t>Where each atom family runs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graphicFrame>
        <p:nvGraphicFramePr>
          <p:cNvPr id="4" name="Table" descr="Table: Family, Slides, Web, Email, PDF; 7 rows"/>
          <p:cNvGraphicFramePr>
            <a:graphicFrameLocks noGrp="1"/>
          </p:cNvGraphicFramePr>
          <p:nvPr/>
        </p:nvGraphicFramePr>
        <p:xfrm>
          <a:off x="731520" y="2173224"/>
          <a:ext cx="10728652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1896"/>
                <a:gridCol w="1871694"/>
                <a:gridCol w="1662087"/>
                <a:gridCol w="1822310"/>
                <a:gridCol w="1630665"/>
              </a:tblGrid>
              <a:tr h="502920"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Family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Slides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Web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Email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PDF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Text and headings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Lists and steps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Stats and metrics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Partly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Quotes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Tables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Forms and wired state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Link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Motion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Loop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No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4572000" cy="755904"/>
          </a:xfrm>
        </p:spPr>
        <p:txBody>
          <a:bodyPr wrap="square" anchor="t" lIns="0" rIns="0" tIns="0" bIns="0"/>
          <a:lstStyle/>
          <a:p>
            <a:pPr algn="l"/>
            <a:r>
              <a:rPr sz="4000" b="1" lang="en-US">
                <a:solidFill>
                  <a:srgbClr val="EAEFF5"/>
                </a:solidFill>
                <a:latin typeface="Roboto"/>
              </a:rPr>
              <a:t>Report fields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graphicFrame>
        <p:nvGraphicFramePr>
          <p:cNvPr id="4" name="Table" descr="Table: Name, Description; 4 rows"/>
          <p:cNvGraphicFramePr>
            <a:graphicFrameLocks noGrp="1"/>
          </p:cNvGraphicFramePr>
          <p:nvPr/>
        </p:nvGraphicFramePr>
        <p:xfrm>
          <a:off x="731520" y="2173224"/>
          <a:ext cx="10728654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9391"/>
                <a:gridCol w="6959263"/>
              </a:tblGrid>
              <a:tr h="502920"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Name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lang="en-US">
                          <a:solidFill>
                            <a:srgbClr val="2AC4CE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137160" marR="137160" anchor="ctr">
                    <a:solidFill>
                      <a:srgbClr val="2D36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ok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true when the deck built and linted clean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errors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each names its slide, field and limit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unsupported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atoms with no slide recipe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sha256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lang="en-US">
                          <a:solidFill>
                            <a:srgbClr val="EAEFF5"/>
                          </a:solidFill>
                          <a:latin typeface="Roboto"/>
                        </a:rPr>
                        <a:t>same input, same bytes</a:t>
                      </a:r>
                    </a:p>
                  </a:txBody>
                  <a:tcPr marL="137160" marR="137160" anchor="ctr">
                    <a:solidFill>
                      <a:srgbClr val="1E27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>
            <a:spLocks noGrp="1"/>
          </p:cNvSpPr>
          <p:nvPr>
            <p:ph type="title"/>
          </p:nvPr>
        </p:nvSpPr>
        <p:spPr>
          <a:xfrm>
            <a:off x="1280160" y="2350008"/>
            <a:ext cx="9098280" cy="1792223"/>
          </a:xfrm>
        </p:spPr>
        <p:txBody>
          <a:bodyPr wrap="square" anchor="t" lIns="0" rIns="0" tIns="0" bIns="0"/>
          <a:lstStyle/>
          <a:p>
            <a:pPr algn="l"/>
            <a:r>
              <a:rPr sz="5400" b="1" lang="en-US">
                <a:solidFill>
                  <a:srgbClr val="EAEFF5"/>
                </a:solidFill>
                <a:latin typeface="Roboto"/>
              </a:rPr>
              <a:t>The best interface is the one the agent can actually build.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Accent bar" descr=""/>
          <p:cNvSpPr/>
          <p:nvPr/>
        </p:nvSpPr>
        <p:spPr>
          <a:xfrm>
            <a:off x="731520" y="2350008"/>
            <a:ext cx="109728" cy="2706624"/>
          </a:xfrm>
          <a:prstGeom prst="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me"/>
          <p:cNvSpPr txBox="1"/>
          <p:nvPr/>
        </p:nvSpPr>
        <p:spPr>
          <a:xfrm>
            <a:off x="1280160" y="45994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2AC4CE"/>
                </a:solidFill>
                <a:latin typeface="Roboto"/>
              </a:rPr>
              <a:t>Ada Lovelace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>
            <a:spLocks noGrp="1"/>
          </p:cNvSpPr>
          <p:nvPr>
            <p:ph type="title"/>
          </p:nvPr>
        </p:nvSpPr>
        <p:spPr>
          <a:xfrm>
            <a:off x="1280160" y="2144268"/>
            <a:ext cx="9784080" cy="1792223"/>
          </a:xfrm>
        </p:spPr>
        <p:txBody>
          <a:bodyPr wrap="square" anchor="t" lIns="0" rIns="0" tIns="0" bIns="0"/>
          <a:lstStyle/>
          <a:p>
            <a:pPr algn="l"/>
            <a:r>
              <a:rPr sz="5400" b="1" lang="en-US">
                <a:solidFill>
                  <a:srgbClr val="EAEFF5"/>
                </a:solidFill>
                <a:latin typeface="Roboto"/>
              </a:rPr>
              <a:t>I described the room I wanted and got a deck I could present.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Accent bar" descr=""/>
          <p:cNvSpPr/>
          <p:nvPr/>
        </p:nvSpPr>
        <p:spPr>
          <a:xfrm>
            <a:off x="731520" y="2144268"/>
            <a:ext cx="109728" cy="3118103"/>
          </a:xfrm>
          <a:prstGeom prst="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me"/>
          <p:cNvSpPr txBox="1"/>
          <p:nvPr/>
        </p:nvSpPr>
        <p:spPr>
          <a:xfrm>
            <a:off x="1280160" y="439369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2AC4CE"/>
                </a:solidFill>
                <a:latin typeface="Roboto"/>
              </a:rPr>
              <a:t>A. Presenter</a:t>
            </a:r>
          </a:p>
        </p:txBody>
      </p:sp>
      <p:sp>
        <p:nvSpPr>
          <p:cNvPr id="6" name="Role"/>
          <p:cNvSpPr txBox="1"/>
          <p:nvPr/>
        </p:nvSpPr>
        <p:spPr>
          <a:xfrm>
            <a:off x="1280160" y="4850892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Head of Product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>
            <a:spLocks noGrp="1"/>
          </p:cNvSpPr>
          <p:nvPr>
            <p:ph type="title"/>
          </p:nvPr>
        </p:nvSpPr>
        <p:spPr>
          <a:xfrm>
            <a:off x="1280160" y="2479548"/>
            <a:ext cx="6903720" cy="1121664"/>
          </a:xfrm>
        </p:spPr>
        <p:txBody>
          <a:bodyPr wrap="square" anchor="t" lIns="0" rIns="0" tIns="0" bIns="0"/>
          <a:lstStyle/>
          <a:p>
            <a:pPr algn="l"/>
            <a:r>
              <a:rPr sz="3200" b="1" lang="en-US">
                <a:solidFill>
                  <a:srgbClr val="EAEFF5"/>
                </a:solidFill>
                <a:latin typeface="Roboto"/>
              </a:rPr>
              <a:t>Fitting the text with real font metrics means nothing spills over in Slides.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Accent bar" descr=""/>
          <p:cNvSpPr/>
          <p:nvPr/>
        </p:nvSpPr>
        <p:spPr>
          <a:xfrm>
            <a:off x="731520" y="2479548"/>
            <a:ext cx="109728" cy="2447544"/>
          </a:xfrm>
          <a:prstGeom prst="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me"/>
          <p:cNvSpPr txBox="1"/>
          <p:nvPr/>
        </p:nvSpPr>
        <p:spPr>
          <a:xfrm>
            <a:off x="1280160" y="40584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2AC4CE"/>
                </a:solidFill>
                <a:latin typeface="Roboto"/>
              </a:rPr>
              <a:t>R. Reviewer</a:t>
            </a:r>
          </a:p>
        </p:txBody>
      </p:sp>
      <p:sp>
        <p:nvSpPr>
          <p:cNvPr id="6" name="Role"/>
          <p:cNvSpPr txBox="1"/>
          <p:nvPr/>
        </p:nvSpPr>
        <p:spPr>
          <a:xfrm>
            <a:off x="1280160" y="4515612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Design lead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>
            <a:spLocks noGrp="1"/>
          </p:cNvSpPr>
          <p:nvPr>
            <p:ph type="title"/>
          </p:nvPr>
        </p:nvSpPr>
        <p:spPr>
          <a:xfrm>
            <a:off x="1280160" y="2144268"/>
            <a:ext cx="6675120" cy="1792223"/>
          </a:xfrm>
        </p:spPr>
        <p:txBody>
          <a:bodyPr wrap="square" anchor="t" lIns="0" rIns="0" tIns="0" bIns="0"/>
          <a:lstStyle/>
          <a:p>
            <a:pPr algn="l"/>
            <a:r>
              <a:rPr sz="5400" b="1" lang="en-US">
                <a:solidFill>
                  <a:srgbClr val="EAEFF5"/>
                </a:solidFill>
                <a:latin typeface="Roboto"/>
              </a:rPr>
              <a:t>Typed atoms make the slide predictable.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Accent bar" descr=""/>
          <p:cNvSpPr/>
          <p:nvPr/>
        </p:nvSpPr>
        <p:spPr>
          <a:xfrm>
            <a:off x="731520" y="2144268"/>
            <a:ext cx="109728" cy="3118103"/>
          </a:xfrm>
          <a:prstGeom prst="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me"/>
          <p:cNvSpPr txBox="1"/>
          <p:nvPr/>
        </p:nvSpPr>
        <p:spPr>
          <a:xfrm>
            <a:off x="1280160" y="439369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2AC4CE"/>
                </a:solidFill>
                <a:latin typeface="Roboto"/>
              </a:rPr>
              <a:t>D. Expert</a:t>
            </a:r>
          </a:p>
        </p:txBody>
      </p:sp>
      <p:sp>
        <p:nvSpPr>
          <p:cNvPr id="6" name="Role"/>
          <p:cNvSpPr txBox="1"/>
          <p:nvPr/>
        </p:nvSpPr>
        <p:spPr>
          <a:xfrm>
            <a:off x="1280160" y="4850892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Researcher, Open UI Lab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>
            <a:spLocks noGrp="1"/>
          </p:cNvSpPr>
          <p:nvPr>
            <p:ph type="title"/>
          </p:nvPr>
        </p:nvSpPr>
        <p:spPr>
          <a:xfrm>
            <a:off x="1280160" y="1938528"/>
            <a:ext cx="7269480" cy="2615184"/>
          </a:xfrm>
        </p:spPr>
        <p:txBody>
          <a:bodyPr wrap="square" anchor="t" lIns="0" rIns="0" tIns="0" bIns="0"/>
          <a:lstStyle/>
          <a:p>
            <a:pPr algn="l"/>
            <a:r>
              <a:rPr sz="5400" b="1" lang="en-US">
                <a:solidFill>
                  <a:srgbClr val="EAEFF5"/>
                </a:solidFill>
                <a:latin typeface="Roboto"/>
              </a:rPr>
              <a:t>Boring in the best way: the same input always gives the same file.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Accent bar" descr=""/>
          <p:cNvSpPr/>
          <p:nvPr/>
        </p:nvSpPr>
        <p:spPr>
          <a:xfrm>
            <a:off x="731520" y="1938528"/>
            <a:ext cx="109728" cy="3529584"/>
          </a:xfrm>
          <a:prstGeom prst="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ame"/>
          <p:cNvSpPr txBox="1"/>
          <p:nvPr/>
        </p:nvSpPr>
        <p:spPr>
          <a:xfrm>
            <a:off x="1280160" y="50109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2AC4CE"/>
                </a:solidFill>
                <a:latin typeface="Roboto"/>
              </a:rPr>
              <a:t>S. Tester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731520" y="2215896"/>
            <a:ext cx="5577840" cy="2157984"/>
          </a:xfrm>
        </p:spPr>
        <p:txBody>
          <a:bodyPr wrap="square" anchor="t" lIns="0" rIns="0" tIns="0" bIns="0"/>
          <a:lstStyle/>
          <a:p>
            <a:pPr algn="l"/>
            <a:r>
              <a:rPr sz="6600" b="1" lang="en-US">
                <a:solidFill>
                  <a:srgbClr val="EAEFF5"/>
                </a:solidFill>
                <a:latin typeface="Roboto"/>
              </a:rPr>
              <a:t>One payload. Every surface.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Subhead"/>
          <p:cNvSpPr txBox="1"/>
          <p:nvPr/>
        </p:nvSpPr>
        <p:spPr>
          <a:xfrm>
            <a:off x="731520" y="4648200"/>
            <a:ext cx="4846320" cy="542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lang="en-US">
                <a:solidFill>
                  <a:srgbClr val="9CA5B1"/>
                </a:solidFill>
                <a:latin typeface="Roboto"/>
              </a:rPr>
              <a:t>open source, MIT, a2uicatalog.ai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731520" y="2007108"/>
            <a:ext cx="5120640" cy="2157984"/>
          </a:xfrm>
        </p:spPr>
        <p:txBody>
          <a:bodyPr wrap="square" anchor="t" lIns="0" rIns="0" tIns="0" bIns="0"/>
          <a:lstStyle/>
          <a:p>
            <a:pPr algn="l"/>
            <a:r>
              <a:rPr sz="6600" b="1" lang="en-US">
                <a:solidFill>
                  <a:srgbClr val="EAEFF5"/>
                </a:solidFill>
                <a:latin typeface="Roboto"/>
              </a:rPr>
              <a:t>Try it on your own payload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Button 1: Browse the atoms">
            <a:hlinkClick r:id="rId2"/>
          </p:cNvPr>
          <p:cNvSpPr/>
          <p:nvPr/>
        </p:nvSpPr>
        <p:spPr>
          <a:xfrm>
            <a:off x="731520" y="4622292"/>
            <a:ext cx="3487919" cy="777240"/>
          </a:xfrm>
          <a:prstGeom prst="roundRect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 lang="en-US">
                <a:solidFill>
                  <a:srgbClr val="060C13"/>
                </a:solidFill>
                <a:latin typeface="Roboto"/>
              </a:rPr>
              <a:t>Browse the atoms</a:t>
            </a:r>
          </a:p>
        </p:txBody>
      </p:sp>
      <p:sp>
        <p:nvSpPr>
          <p:cNvPr id="5" name="Button 2: Read the spec">
            <a:hlinkClick r:id="rId3"/>
          </p:cNvPr>
          <p:cNvSpPr/>
          <p:nvPr/>
        </p:nvSpPr>
        <p:spPr>
          <a:xfrm>
            <a:off x="4493759" y="4622292"/>
            <a:ext cx="2894325" cy="777240"/>
          </a:xfrm>
          <a:prstGeom prst="roundRect">
            <a:avLst/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 lang="en-US">
                <a:solidFill>
                  <a:srgbClr val="EAEFF5"/>
                </a:solidFill>
                <a:latin typeface="Roboto"/>
              </a:rPr>
              <a:t>Read the spec</a:t>
            </a:r>
          </a:p>
        </p:txBody>
      </p:sp>
      <p:sp>
        <p:nvSpPr>
          <p:cNvPr id="6" name="QR card" descr=""/>
          <p:cNvSpPr/>
          <p:nvPr/>
        </p:nvSpPr>
        <p:spPr>
          <a:xfrm>
            <a:off x="8259775" y="1847088"/>
            <a:ext cx="3200400" cy="371246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QR code (schema_qr atom)" descr="QR code that opens https://a2uicatalog.ai"/>
          <p:cNvSpPr/>
          <p:nvPr/>
        </p:nvSpPr>
        <p:spPr>
          <a:xfrm>
            <a:off x="8820884" y="2453917"/>
            <a:ext cx="2078182" cy="2078182"/>
          </a:xfrm>
          <a:custGeom>
            <a:avLst/>
            <a:gdLst/>
            <a:ahLst/>
            <a:cxnLst/>
            <a:rect l="l" t="t" r="r" b="b"/>
            <a:pathLst>
              <a:path w="25" h="25">
                <a:moveTo>
                  <a:pt x="0" y="0"/>
                </a:moveTo>
                <a:lnTo>
                  <a:pt x="7" y="0"/>
                </a:lnTo>
                <a:lnTo>
                  <a:pt x="7" y="1"/>
                </a:lnTo>
                <a:lnTo>
                  <a:pt x="0" y="1"/>
                </a:lnTo>
                <a:close/>
                <a:moveTo>
                  <a:pt x="8" y="0"/>
                </a:moveTo>
                <a:lnTo>
                  <a:pt x="9" y="0"/>
                </a:lnTo>
                <a:lnTo>
                  <a:pt x="9" y="1"/>
                </a:lnTo>
                <a:lnTo>
                  <a:pt x="8" y="1"/>
                </a:lnTo>
                <a:close/>
                <a:moveTo>
                  <a:pt x="11" y="0"/>
                </a:moveTo>
                <a:lnTo>
                  <a:pt x="12" y="0"/>
                </a:lnTo>
                <a:lnTo>
                  <a:pt x="12" y="1"/>
                </a:lnTo>
                <a:lnTo>
                  <a:pt x="11" y="1"/>
                </a:lnTo>
                <a:close/>
                <a:moveTo>
                  <a:pt x="14" y="0"/>
                </a:moveTo>
                <a:lnTo>
                  <a:pt x="15" y="0"/>
                </a:lnTo>
                <a:lnTo>
                  <a:pt x="15" y="1"/>
                </a:lnTo>
                <a:lnTo>
                  <a:pt x="14" y="1"/>
                </a:lnTo>
                <a:close/>
                <a:moveTo>
                  <a:pt x="18" y="0"/>
                </a:moveTo>
                <a:lnTo>
                  <a:pt x="25" y="0"/>
                </a:lnTo>
                <a:lnTo>
                  <a:pt x="25" y="1"/>
                </a:lnTo>
                <a:lnTo>
                  <a:pt x="18" y="1"/>
                </a:lnTo>
                <a:close/>
                <a:moveTo>
                  <a:pt x="0" y="1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  <a:moveTo>
                  <a:pt x="6" y="1"/>
                </a:move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close/>
                <a:moveTo>
                  <a:pt x="8" y="1"/>
                </a:moveTo>
                <a:lnTo>
                  <a:pt x="11" y="1"/>
                </a:lnTo>
                <a:lnTo>
                  <a:pt x="11" y="2"/>
                </a:lnTo>
                <a:lnTo>
                  <a:pt x="8" y="2"/>
                </a:lnTo>
                <a:close/>
                <a:moveTo>
                  <a:pt x="18" y="1"/>
                </a:moveTo>
                <a:lnTo>
                  <a:pt x="19" y="1"/>
                </a:lnTo>
                <a:lnTo>
                  <a:pt x="19" y="2"/>
                </a:lnTo>
                <a:lnTo>
                  <a:pt x="18" y="2"/>
                </a:lnTo>
                <a:close/>
                <a:moveTo>
                  <a:pt x="24" y="1"/>
                </a:moveTo>
                <a:lnTo>
                  <a:pt x="25" y="1"/>
                </a:lnTo>
                <a:lnTo>
                  <a:pt x="25" y="2"/>
                </a:lnTo>
                <a:lnTo>
                  <a:pt x="24" y="2"/>
                </a:lnTo>
                <a:close/>
                <a:moveTo>
                  <a:pt x="0" y="2"/>
                </a:move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  <a:moveTo>
                  <a:pt x="2" y="2"/>
                </a:moveTo>
                <a:lnTo>
                  <a:pt x="5" y="2"/>
                </a:lnTo>
                <a:lnTo>
                  <a:pt x="5" y="3"/>
                </a:lnTo>
                <a:lnTo>
                  <a:pt x="2" y="3"/>
                </a:lnTo>
                <a:close/>
                <a:moveTo>
                  <a:pt x="6" y="2"/>
                </a:move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close/>
                <a:moveTo>
                  <a:pt x="8" y="2"/>
                </a:move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close/>
                <a:moveTo>
                  <a:pt x="10" y="2"/>
                </a:moveTo>
                <a:lnTo>
                  <a:pt x="11" y="2"/>
                </a:lnTo>
                <a:lnTo>
                  <a:pt x="11" y="3"/>
                </a:lnTo>
                <a:lnTo>
                  <a:pt x="10" y="3"/>
                </a:lnTo>
                <a:close/>
                <a:moveTo>
                  <a:pt x="13" y="2"/>
                </a:moveTo>
                <a:lnTo>
                  <a:pt x="16" y="2"/>
                </a:lnTo>
                <a:lnTo>
                  <a:pt x="16" y="3"/>
                </a:lnTo>
                <a:lnTo>
                  <a:pt x="13" y="3"/>
                </a:lnTo>
                <a:close/>
                <a:moveTo>
                  <a:pt x="18" y="2"/>
                </a:move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close/>
                <a:moveTo>
                  <a:pt x="20" y="2"/>
                </a:moveTo>
                <a:lnTo>
                  <a:pt x="23" y="2"/>
                </a:lnTo>
                <a:lnTo>
                  <a:pt x="23" y="3"/>
                </a:lnTo>
                <a:lnTo>
                  <a:pt x="20" y="3"/>
                </a:lnTo>
                <a:close/>
                <a:moveTo>
                  <a:pt x="24" y="2"/>
                </a:moveTo>
                <a:lnTo>
                  <a:pt x="25" y="2"/>
                </a:lnTo>
                <a:lnTo>
                  <a:pt x="25" y="3"/>
                </a:lnTo>
                <a:lnTo>
                  <a:pt x="24" y="3"/>
                </a:lnTo>
                <a:close/>
                <a:moveTo>
                  <a:pt x="0" y="3"/>
                </a:move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close/>
                <a:moveTo>
                  <a:pt x="2" y="3"/>
                </a:moveTo>
                <a:lnTo>
                  <a:pt x="5" y="3"/>
                </a:lnTo>
                <a:lnTo>
                  <a:pt x="5" y="4"/>
                </a:lnTo>
                <a:lnTo>
                  <a:pt x="2" y="4"/>
                </a:lnTo>
                <a:close/>
                <a:moveTo>
                  <a:pt x="6" y="3"/>
                </a:move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close/>
                <a:moveTo>
                  <a:pt x="10" y="3"/>
                </a:moveTo>
                <a:lnTo>
                  <a:pt x="11" y="3"/>
                </a:lnTo>
                <a:lnTo>
                  <a:pt x="11" y="4"/>
                </a:lnTo>
                <a:lnTo>
                  <a:pt x="10" y="4"/>
                </a:lnTo>
                <a:close/>
                <a:moveTo>
                  <a:pt x="13" y="3"/>
                </a:moveTo>
                <a:lnTo>
                  <a:pt x="14" y="3"/>
                </a:lnTo>
                <a:lnTo>
                  <a:pt x="14" y="4"/>
                </a:lnTo>
                <a:lnTo>
                  <a:pt x="13" y="4"/>
                </a:lnTo>
                <a:close/>
                <a:moveTo>
                  <a:pt x="15" y="3"/>
                </a:moveTo>
                <a:lnTo>
                  <a:pt x="17" y="3"/>
                </a:lnTo>
                <a:lnTo>
                  <a:pt x="17" y="4"/>
                </a:lnTo>
                <a:lnTo>
                  <a:pt x="15" y="4"/>
                </a:lnTo>
                <a:close/>
                <a:moveTo>
                  <a:pt x="18" y="3"/>
                </a:moveTo>
                <a:lnTo>
                  <a:pt x="19" y="3"/>
                </a:lnTo>
                <a:lnTo>
                  <a:pt x="19" y="4"/>
                </a:lnTo>
                <a:lnTo>
                  <a:pt x="18" y="4"/>
                </a:lnTo>
                <a:close/>
                <a:moveTo>
                  <a:pt x="20" y="3"/>
                </a:moveTo>
                <a:lnTo>
                  <a:pt x="23" y="3"/>
                </a:lnTo>
                <a:lnTo>
                  <a:pt x="23" y="4"/>
                </a:lnTo>
                <a:lnTo>
                  <a:pt x="20" y="4"/>
                </a:lnTo>
                <a:close/>
                <a:moveTo>
                  <a:pt x="24" y="3"/>
                </a:moveTo>
                <a:lnTo>
                  <a:pt x="25" y="3"/>
                </a:lnTo>
                <a:lnTo>
                  <a:pt x="25" y="4"/>
                </a:lnTo>
                <a:lnTo>
                  <a:pt x="24" y="4"/>
                </a:lnTo>
                <a:close/>
                <a:moveTo>
                  <a:pt x="0" y="4"/>
                </a:move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  <a:moveTo>
                  <a:pt x="2" y="4"/>
                </a:moveTo>
                <a:lnTo>
                  <a:pt x="5" y="4"/>
                </a:lnTo>
                <a:lnTo>
                  <a:pt x="5" y="5"/>
                </a:lnTo>
                <a:lnTo>
                  <a:pt x="2" y="5"/>
                </a:lnTo>
                <a:close/>
                <a:moveTo>
                  <a:pt x="6" y="4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  <a:moveTo>
                  <a:pt x="8" y="4"/>
                </a:moveTo>
                <a:lnTo>
                  <a:pt x="12" y="4"/>
                </a:lnTo>
                <a:lnTo>
                  <a:pt x="12" y="5"/>
                </a:lnTo>
                <a:lnTo>
                  <a:pt x="8" y="5"/>
                </a:lnTo>
                <a:close/>
                <a:moveTo>
                  <a:pt x="14" y="4"/>
                </a:moveTo>
                <a:lnTo>
                  <a:pt x="15" y="4"/>
                </a:lnTo>
                <a:lnTo>
                  <a:pt x="15" y="5"/>
                </a:lnTo>
                <a:lnTo>
                  <a:pt x="14" y="5"/>
                </a:lnTo>
                <a:close/>
                <a:moveTo>
                  <a:pt x="16" y="4"/>
                </a:move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close/>
                <a:moveTo>
                  <a:pt x="18" y="4"/>
                </a:moveTo>
                <a:lnTo>
                  <a:pt x="19" y="4"/>
                </a:lnTo>
                <a:lnTo>
                  <a:pt x="19" y="5"/>
                </a:lnTo>
                <a:lnTo>
                  <a:pt x="18" y="5"/>
                </a:lnTo>
                <a:close/>
                <a:moveTo>
                  <a:pt x="20" y="4"/>
                </a:moveTo>
                <a:lnTo>
                  <a:pt x="23" y="4"/>
                </a:lnTo>
                <a:lnTo>
                  <a:pt x="23" y="5"/>
                </a:lnTo>
                <a:lnTo>
                  <a:pt x="20" y="5"/>
                </a:lnTo>
                <a:close/>
                <a:moveTo>
                  <a:pt x="24" y="4"/>
                </a:moveTo>
                <a:lnTo>
                  <a:pt x="25" y="4"/>
                </a:lnTo>
                <a:lnTo>
                  <a:pt x="25" y="5"/>
                </a:lnTo>
                <a:lnTo>
                  <a:pt x="24" y="5"/>
                </a:lnTo>
                <a:close/>
                <a:moveTo>
                  <a:pt x="0" y="5"/>
                </a:move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close/>
                <a:moveTo>
                  <a:pt x="6" y="5"/>
                </a:move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close/>
                <a:moveTo>
                  <a:pt x="9" y="5"/>
                </a:moveTo>
                <a:lnTo>
                  <a:pt x="11" y="5"/>
                </a:lnTo>
                <a:lnTo>
                  <a:pt x="11" y="6"/>
                </a:lnTo>
                <a:lnTo>
                  <a:pt x="9" y="6"/>
                </a:lnTo>
                <a:close/>
                <a:moveTo>
                  <a:pt x="13" y="5"/>
                </a:moveTo>
                <a:lnTo>
                  <a:pt x="15" y="5"/>
                </a:lnTo>
                <a:lnTo>
                  <a:pt x="15" y="6"/>
                </a:lnTo>
                <a:lnTo>
                  <a:pt x="13" y="6"/>
                </a:lnTo>
                <a:close/>
                <a:moveTo>
                  <a:pt x="18" y="5"/>
                </a:moveTo>
                <a:lnTo>
                  <a:pt x="19" y="5"/>
                </a:lnTo>
                <a:lnTo>
                  <a:pt x="19" y="6"/>
                </a:lnTo>
                <a:lnTo>
                  <a:pt x="18" y="6"/>
                </a:lnTo>
                <a:close/>
                <a:moveTo>
                  <a:pt x="24" y="5"/>
                </a:moveTo>
                <a:lnTo>
                  <a:pt x="25" y="5"/>
                </a:lnTo>
                <a:lnTo>
                  <a:pt x="25" y="6"/>
                </a:lnTo>
                <a:lnTo>
                  <a:pt x="24" y="6"/>
                </a:lnTo>
                <a:close/>
                <a:moveTo>
                  <a:pt x="0" y="6"/>
                </a:moveTo>
                <a:lnTo>
                  <a:pt x="7" y="6"/>
                </a:lnTo>
                <a:lnTo>
                  <a:pt x="7" y="7"/>
                </a:lnTo>
                <a:lnTo>
                  <a:pt x="0" y="7"/>
                </a:lnTo>
                <a:close/>
                <a:moveTo>
                  <a:pt x="8" y="6"/>
                </a:move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close/>
                <a:moveTo>
                  <a:pt x="10" y="6"/>
                </a:move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close/>
                <a:moveTo>
                  <a:pt x="12" y="6"/>
                </a:move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close/>
                <a:moveTo>
                  <a:pt x="14" y="6"/>
                </a:moveTo>
                <a:lnTo>
                  <a:pt x="15" y="6"/>
                </a:lnTo>
                <a:lnTo>
                  <a:pt x="15" y="7"/>
                </a:lnTo>
                <a:lnTo>
                  <a:pt x="14" y="7"/>
                </a:lnTo>
                <a:close/>
                <a:moveTo>
                  <a:pt x="16" y="6"/>
                </a:moveTo>
                <a:lnTo>
                  <a:pt x="17" y="6"/>
                </a:lnTo>
                <a:lnTo>
                  <a:pt x="17" y="7"/>
                </a:lnTo>
                <a:lnTo>
                  <a:pt x="16" y="7"/>
                </a:lnTo>
                <a:close/>
                <a:moveTo>
                  <a:pt x="18" y="6"/>
                </a:moveTo>
                <a:lnTo>
                  <a:pt x="25" y="6"/>
                </a:lnTo>
                <a:lnTo>
                  <a:pt x="25" y="7"/>
                </a:lnTo>
                <a:lnTo>
                  <a:pt x="18" y="7"/>
                </a:lnTo>
                <a:close/>
                <a:moveTo>
                  <a:pt x="9" y="7"/>
                </a:moveTo>
                <a:lnTo>
                  <a:pt x="11" y="7"/>
                </a:lnTo>
                <a:lnTo>
                  <a:pt x="11" y="8"/>
                </a:lnTo>
                <a:lnTo>
                  <a:pt x="9" y="8"/>
                </a:lnTo>
                <a:close/>
                <a:moveTo>
                  <a:pt x="13" y="7"/>
                </a:move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close/>
                <a:moveTo>
                  <a:pt x="0" y="8"/>
                </a:move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close/>
                <a:moveTo>
                  <a:pt x="3" y="8"/>
                </a:moveTo>
                <a:lnTo>
                  <a:pt x="10" y="8"/>
                </a:lnTo>
                <a:lnTo>
                  <a:pt x="10" y="9"/>
                </a:lnTo>
                <a:lnTo>
                  <a:pt x="3" y="9"/>
                </a:lnTo>
                <a:close/>
                <a:moveTo>
                  <a:pt x="12" y="8"/>
                </a:move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close/>
                <a:moveTo>
                  <a:pt x="15" y="8"/>
                </a:moveTo>
                <a:lnTo>
                  <a:pt x="18" y="8"/>
                </a:lnTo>
                <a:lnTo>
                  <a:pt x="18" y="9"/>
                </a:lnTo>
                <a:lnTo>
                  <a:pt x="15" y="9"/>
                </a:lnTo>
                <a:close/>
                <a:moveTo>
                  <a:pt x="20" y="8"/>
                </a:moveTo>
                <a:lnTo>
                  <a:pt x="21" y="8"/>
                </a:lnTo>
                <a:lnTo>
                  <a:pt x="21" y="9"/>
                </a:lnTo>
                <a:lnTo>
                  <a:pt x="20" y="9"/>
                </a:lnTo>
                <a:close/>
                <a:moveTo>
                  <a:pt x="22" y="8"/>
                </a:moveTo>
                <a:lnTo>
                  <a:pt x="25" y="8"/>
                </a:lnTo>
                <a:lnTo>
                  <a:pt x="25" y="9"/>
                </a:lnTo>
                <a:lnTo>
                  <a:pt x="22" y="9"/>
                </a:lnTo>
                <a:close/>
                <a:moveTo>
                  <a:pt x="3" y="9"/>
                </a:move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close/>
                <a:moveTo>
                  <a:pt x="5" y="9"/>
                </a:move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close/>
                <a:moveTo>
                  <a:pt x="8" y="9"/>
                </a:moveTo>
                <a:lnTo>
                  <a:pt x="10" y="9"/>
                </a:lnTo>
                <a:lnTo>
                  <a:pt x="10" y="10"/>
                </a:lnTo>
                <a:lnTo>
                  <a:pt x="8" y="10"/>
                </a:lnTo>
                <a:close/>
                <a:moveTo>
                  <a:pt x="12" y="9"/>
                </a:moveTo>
                <a:lnTo>
                  <a:pt x="16" y="9"/>
                </a:lnTo>
                <a:lnTo>
                  <a:pt x="16" y="10"/>
                </a:lnTo>
                <a:lnTo>
                  <a:pt x="12" y="10"/>
                </a:lnTo>
                <a:close/>
                <a:moveTo>
                  <a:pt x="17" y="9"/>
                </a:moveTo>
                <a:lnTo>
                  <a:pt x="18" y="9"/>
                </a:lnTo>
                <a:lnTo>
                  <a:pt x="18" y="10"/>
                </a:lnTo>
                <a:lnTo>
                  <a:pt x="17" y="10"/>
                </a:lnTo>
                <a:close/>
                <a:moveTo>
                  <a:pt x="20" y="9"/>
                </a:moveTo>
                <a:lnTo>
                  <a:pt x="24" y="9"/>
                </a:lnTo>
                <a:lnTo>
                  <a:pt x="24" y="10"/>
                </a:lnTo>
                <a:lnTo>
                  <a:pt x="20" y="10"/>
                </a:lnTo>
                <a:close/>
                <a:moveTo>
                  <a:pt x="1" y="10"/>
                </a:moveTo>
                <a:lnTo>
                  <a:pt x="4" y="10"/>
                </a:lnTo>
                <a:lnTo>
                  <a:pt x="4" y="11"/>
                </a:lnTo>
                <a:lnTo>
                  <a:pt x="1" y="11"/>
                </a:lnTo>
                <a:close/>
                <a:moveTo>
                  <a:pt x="6" y="10"/>
                </a:moveTo>
                <a:lnTo>
                  <a:pt x="8" y="10"/>
                </a:lnTo>
                <a:lnTo>
                  <a:pt x="8" y="11"/>
                </a:lnTo>
                <a:lnTo>
                  <a:pt x="6" y="11"/>
                </a:lnTo>
                <a:close/>
                <a:moveTo>
                  <a:pt x="9" y="10"/>
                </a:moveTo>
                <a:lnTo>
                  <a:pt x="11" y="10"/>
                </a:lnTo>
                <a:lnTo>
                  <a:pt x="11" y="11"/>
                </a:lnTo>
                <a:lnTo>
                  <a:pt x="9" y="11"/>
                </a:lnTo>
                <a:close/>
                <a:moveTo>
                  <a:pt x="13" y="10"/>
                </a:moveTo>
                <a:lnTo>
                  <a:pt x="14" y="10"/>
                </a:lnTo>
                <a:lnTo>
                  <a:pt x="14" y="11"/>
                </a:lnTo>
                <a:lnTo>
                  <a:pt x="13" y="11"/>
                </a:lnTo>
                <a:close/>
                <a:moveTo>
                  <a:pt x="15" y="10"/>
                </a:moveTo>
                <a:lnTo>
                  <a:pt x="16" y="10"/>
                </a:lnTo>
                <a:lnTo>
                  <a:pt x="16" y="11"/>
                </a:lnTo>
                <a:lnTo>
                  <a:pt x="15" y="11"/>
                </a:lnTo>
                <a:close/>
                <a:moveTo>
                  <a:pt x="17" y="10"/>
                </a:moveTo>
                <a:lnTo>
                  <a:pt x="22" y="10"/>
                </a:lnTo>
                <a:lnTo>
                  <a:pt x="22" y="11"/>
                </a:lnTo>
                <a:lnTo>
                  <a:pt x="17" y="11"/>
                </a:lnTo>
                <a:close/>
                <a:moveTo>
                  <a:pt x="24" y="10"/>
                </a:moveTo>
                <a:lnTo>
                  <a:pt x="25" y="10"/>
                </a:lnTo>
                <a:lnTo>
                  <a:pt x="25" y="11"/>
                </a:lnTo>
                <a:lnTo>
                  <a:pt x="24" y="11"/>
                </a:lnTo>
                <a:close/>
                <a:moveTo>
                  <a:pt x="2" y="11"/>
                </a:move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close/>
                <a:moveTo>
                  <a:pt x="4" y="11"/>
                </a:moveTo>
                <a:lnTo>
                  <a:pt x="5" y="11"/>
                </a:lnTo>
                <a:lnTo>
                  <a:pt x="5" y="12"/>
                </a:lnTo>
                <a:lnTo>
                  <a:pt x="4" y="12"/>
                </a:lnTo>
                <a:close/>
                <a:moveTo>
                  <a:pt x="9" y="11"/>
                </a:moveTo>
                <a:lnTo>
                  <a:pt x="10" y="11"/>
                </a:lnTo>
                <a:lnTo>
                  <a:pt x="10" y="12"/>
                </a:lnTo>
                <a:lnTo>
                  <a:pt x="9" y="12"/>
                </a:lnTo>
                <a:close/>
                <a:moveTo>
                  <a:pt x="12" y="11"/>
                </a:move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close/>
                <a:moveTo>
                  <a:pt x="17" y="11"/>
                </a:moveTo>
                <a:lnTo>
                  <a:pt x="18" y="11"/>
                </a:lnTo>
                <a:lnTo>
                  <a:pt x="18" y="12"/>
                </a:lnTo>
                <a:lnTo>
                  <a:pt x="17" y="12"/>
                </a:lnTo>
                <a:close/>
                <a:moveTo>
                  <a:pt x="21" y="11"/>
                </a:moveTo>
                <a:lnTo>
                  <a:pt x="25" y="11"/>
                </a:lnTo>
                <a:lnTo>
                  <a:pt x="25" y="12"/>
                </a:lnTo>
                <a:lnTo>
                  <a:pt x="21" y="12"/>
                </a:lnTo>
                <a:close/>
                <a:moveTo>
                  <a:pt x="1" y="12"/>
                </a:moveTo>
                <a:lnTo>
                  <a:pt x="3" y="12"/>
                </a:lnTo>
                <a:lnTo>
                  <a:pt x="3" y="13"/>
                </a:lnTo>
                <a:lnTo>
                  <a:pt x="1" y="13"/>
                </a:lnTo>
                <a:close/>
                <a:moveTo>
                  <a:pt x="5" y="12"/>
                </a:moveTo>
                <a:lnTo>
                  <a:pt x="8" y="12"/>
                </a:lnTo>
                <a:lnTo>
                  <a:pt x="8" y="13"/>
                </a:lnTo>
                <a:lnTo>
                  <a:pt x="5" y="13"/>
                </a:lnTo>
                <a:close/>
                <a:moveTo>
                  <a:pt x="10" y="12"/>
                </a:moveTo>
                <a:lnTo>
                  <a:pt x="12" y="12"/>
                </a:lnTo>
                <a:lnTo>
                  <a:pt x="12" y="13"/>
                </a:lnTo>
                <a:lnTo>
                  <a:pt x="10" y="13"/>
                </a:lnTo>
                <a:close/>
                <a:moveTo>
                  <a:pt x="15" y="12"/>
                </a:move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close/>
                <a:moveTo>
                  <a:pt x="18" y="12"/>
                </a:moveTo>
                <a:lnTo>
                  <a:pt x="20" y="12"/>
                </a:lnTo>
                <a:lnTo>
                  <a:pt x="20" y="13"/>
                </a:lnTo>
                <a:lnTo>
                  <a:pt x="18" y="13"/>
                </a:lnTo>
                <a:close/>
                <a:moveTo>
                  <a:pt x="24" y="12"/>
                </a:moveTo>
                <a:lnTo>
                  <a:pt x="25" y="12"/>
                </a:lnTo>
                <a:lnTo>
                  <a:pt x="25" y="13"/>
                </a:lnTo>
                <a:lnTo>
                  <a:pt x="24" y="13"/>
                </a:lnTo>
                <a:close/>
                <a:moveTo>
                  <a:pt x="0" y="13"/>
                </a:moveTo>
                <a:lnTo>
                  <a:pt x="1" y="13"/>
                </a:lnTo>
                <a:lnTo>
                  <a:pt x="1" y="14"/>
                </a:lnTo>
                <a:lnTo>
                  <a:pt x="0" y="14"/>
                </a:lnTo>
                <a:close/>
                <a:moveTo>
                  <a:pt x="2" y="13"/>
                </a:moveTo>
                <a:lnTo>
                  <a:pt x="3" y="13"/>
                </a:lnTo>
                <a:lnTo>
                  <a:pt x="3" y="14"/>
                </a:lnTo>
                <a:lnTo>
                  <a:pt x="2" y="14"/>
                </a:lnTo>
                <a:close/>
                <a:moveTo>
                  <a:pt x="5" y="13"/>
                </a:moveTo>
                <a:lnTo>
                  <a:pt x="6" y="13"/>
                </a:lnTo>
                <a:lnTo>
                  <a:pt x="6" y="14"/>
                </a:lnTo>
                <a:lnTo>
                  <a:pt x="5" y="14"/>
                </a:lnTo>
                <a:close/>
                <a:moveTo>
                  <a:pt x="12" y="13"/>
                </a:moveTo>
                <a:lnTo>
                  <a:pt x="18" y="13"/>
                </a:lnTo>
                <a:lnTo>
                  <a:pt x="18" y="14"/>
                </a:lnTo>
                <a:lnTo>
                  <a:pt x="12" y="14"/>
                </a:lnTo>
                <a:close/>
                <a:moveTo>
                  <a:pt x="20" y="13"/>
                </a:moveTo>
                <a:lnTo>
                  <a:pt x="21" y="13"/>
                </a:lnTo>
                <a:lnTo>
                  <a:pt x="21" y="14"/>
                </a:lnTo>
                <a:lnTo>
                  <a:pt x="20" y="14"/>
                </a:lnTo>
                <a:close/>
                <a:moveTo>
                  <a:pt x="23" y="13"/>
                </a:moveTo>
                <a:lnTo>
                  <a:pt x="24" y="13"/>
                </a:lnTo>
                <a:lnTo>
                  <a:pt x="24" y="14"/>
                </a:lnTo>
                <a:lnTo>
                  <a:pt x="23" y="14"/>
                </a:lnTo>
                <a:close/>
                <a:moveTo>
                  <a:pt x="0" y="14"/>
                </a:moveTo>
                <a:lnTo>
                  <a:pt x="3" y="14"/>
                </a:lnTo>
                <a:lnTo>
                  <a:pt x="3" y="15"/>
                </a:lnTo>
                <a:lnTo>
                  <a:pt x="0" y="15"/>
                </a:lnTo>
                <a:close/>
                <a:moveTo>
                  <a:pt x="5" y="14"/>
                </a:moveTo>
                <a:lnTo>
                  <a:pt x="7" y="14"/>
                </a:lnTo>
                <a:lnTo>
                  <a:pt x="7" y="15"/>
                </a:lnTo>
                <a:lnTo>
                  <a:pt x="5" y="15"/>
                </a:lnTo>
                <a:close/>
                <a:moveTo>
                  <a:pt x="9" y="14"/>
                </a:moveTo>
                <a:lnTo>
                  <a:pt x="11" y="14"/>
                </a:lnTo>
                <a:lnTo>
                  <a:pt x="11" y="15"/>
                </a:lnTo>
                <a:lnTo>
                  <a:pt x="9" y="15"/>
                </a:lnTo>
                <a:close/>
                <a:moveTo>
                  <a:pt x="13" y="14"/>
                </a:moveTo>
                <a:lnTo>
                  <a:pt x="14" y="14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15" y="14"/>
                </a:moveTo>
                <a:lnTo>
                  <a:pt x="16" y="14"/>
                </a:lnTo>
                <a:lnTo>
                  <a:pt x="16" y="15"/>
                </a:lnTo>
                <a:lnTo>
                  <a:pt x="15" y="15"/>
                </a:lnTo>
                <a:close/>
                <a:moveTo>
                  <a:pt x="17" y="14"/>
                </a:moveTo>
                <a:lnTo>
                  <a:pt x="19" y="14"/>
                </a:lnTo>
                <a:lnTo>
                  <a:pt x="19" y="15"/>
                </a:lnTo>
                <a:lnTo>
                  <a:pt x="17" y="15"/>
                </a:lnTo>
                <a:close/>
                <a:moveTo>
                  <a:pt x="20" y="14"/>
                </a:moveTo>
                <a:lnTo>
                  <a:pt x="25" y="14"/>
                </a:lnTo>
                <a:lnTo>
                  <a:pt x="25" y="15"/>
                </a:lnTo>
                <a:lnTo>
                  <a:pt x="20" y="15"/>
                </a:lnTo>
                <a:close/>
                <a:moveTo>
                  <a:pt x="0" y="15"/>
                </a:move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close/>
                <a:moveTo>
                  <a:pt x="2" y="15"/>
                </a:moveTo>
                <a:lnTo>
                  <a:pt x="6" y="15"/>
                </a:lnTo>
                <a:lnTo>
                  <a:pt x="6" y="16"/>
                </a:lnTo>
                <a:lnTo>
                  <a:pt x="2" y="16"/>
                </a:lnTo>
                <a:close/>
                <a:moveTo>
                  <a:pt x="7" y="15"/>
                </a:moveTo>
                <a:lnTo>
                  <a:pt x="9" y="15"/>
                </a:lnTo>
                <a:lnTo>
                  <a:pt x="9" y="16"/>
                </a:lnTo>
                <a:lnTo>
                  <a:pt x="7" y="16"/>
                </a:lnTo>
                <a:close/>
                <a:moveTo>
                  <a:pt x="10" y="15"/>
                </a:moveTo>
                <a:lnTo>
                  <a:pt x="11" y="15"/>
                </a:lnTo>
                <a:lnTo>
                  <a:pt x="11" y="16"/>
                </a:lnTo>
                <a:lnTo>
                  <a:pt x="10" y="16"/>
                </a:lnTo>
                <a:close/>
                <a:moveTo>
                  <a:pt x="12" y="15"/>
                </a:moveTo>
                <a:lnTo>
                  <a:pt x="13" y="15"/>
                </a:lnTo>
                <a:lnTo>
                  <a:pt x="13" y="16"/>
                </a:lnTo>
                <a:lnTo>
                  <a:pt x="12" y="16"/>
                </a:lnTo>
                <a:close/>
                <a:moveTo>
                  <a:pt x="16" y="15"/>
                </a:moveTo>
                <a:lnTo>
                  <a:pt x="20" y="15"/>
                </a:lnTo>
                <a:lnTo>
                  <a:pt x="20" y="16"/>
                </a:lnTo>
                <a:lnTo>
                  <a:pt x="16" y="16"/>
                </a:lnTo>
                <a:close/>
                <a:moveTo>
                  <a:pt x="21" y="15"/>
                </a:moveTo>
                <a:lnTo>
                  <a:pt x="23" y="15"/>
                </a:lnTo>
                <a:lnTo>
                  <a:pt x="23" y="16"/>
                </a:lnTo>
                <a:lnTo>
                  <a:pt x="21" y="16"/>
                </a:lnTo>
                <a:close/>
                <a:moveTo>
                  <a:pt x="24" y="15"/>
                </a:moveTo>
                <a:lnTo>
                  <a:pt x="25" y="15"/>
                </a:lnTo>
                <a:lnTo>
                  <a:pt x="25" y="16"/>
                </a:lnTo>
                <a:lnTo>
                  <a:pt x="24" y="16"/>
                </a:lnTo>
                <a:close/>
                <a:moveTo>
                  <a:pt x="0" y="16"/>
                </a:moveTo>
                <a:lnTo>
                  <a:pt x="1" y="16"/>
                </a:lnTo>
                <a:lnTo>
                  <a:pt x="1" y="17"/>
                </a:lnTo>
                <a:lnTo>
                  <a:pt x="0" y="17"/>
                </a:lnTo>
                <a:close/>
                <a:moveTo>
                  <a:pt x="3" y="16"/>
                </a:moveTo>
                <a:lnTo>
                  <a:pt x="5" y="16"/>
                </a:lnTo>
                <a:lnTo>
                  <a:pt x="5" y="17"/>
                </a:lnTo>
                <a:lnTo>
                  <a:pt x="3" y="17"/>
                </a:lnTo>
                <a:close/>
                <a:moveTo>
                  <a:pt x="6" y="16"/>
                </a:moveTo>
                <a:lnTo>
                  <a:pt x="7" y="16"/>
                </a:lnTo>
                <a:lnTo>
                  <a:pt x="7" y="17"/>
                </a:lnTo>
                <a:lnTo>
                  <a:pt x="6" y="17"/>
                </a:lnTo>
                <a:close/>
                <a:moveTo>
                  <a:pt x="8" y="16"/>
                </a:moveTo>
                <a:lnTo>
                  <a:pt x="14" y="16"/>
                </a:lnTo>
                <a:lnTo>
                  <a:pt x="14" y="17"/>
                </a:lnTo>
                <a:lnTo>
                  <a:pt x="8" y="17"/>
                </a:lnTo>
                <a:close/>
                <a:moveTo>
                  <a:pt x="15" y="16"/>
                </a:moveTo>
                <a:lnTo>
                  <a:pt x="21" y="16"/>
                </a:lnTo>
                <a:lnTo>
                  <a:pt x="21" y="17"/>
                </a:lnTo>
                <a:lnTo>
                  <a:pt x="15" y="17"/>
                </a:lnTo>
                <a:close/>
                <a:moveTo>
                  <a:pt x="22" y="16"/>
                </a:moveTo>
                <a:lnTo>
                  <a:pt x="24" y="16"/>
                </a:lnTo>
                <a:lnTo>
                  <a:pt x="24" y="17"/>
                </a:lnTo>
                <a:lnTo>
                  <a:pt x="22" y="17"/>
                </a:lnTo>
                <a:close/>
                <a:moveTo>
                  <a:pt x="8" y="17"/>
                </a:moveTo>
                <a:lnTo>
                  <a:pt x="9" y="17"/>
                </a:lnTo>
                <a:lnTo>
                  <a:pt x="9" y="18"/>
                </a:lnTo>
                <a:lnTo>
                  <a:pt x="8" y="18"/>
                </a:lnTo>
                <a:close/>
                <a:moveTo>
                  <a:pt x="10" y="17"/>
                </a:moveTo>
                <a:lnTo>
                  <a:pt x="12" y="17"/>
                </a:lnTo>
                <a:lnTo>
                  <a:pt x="12" y="18"/>
                </a:lnTo>
                <a:lnTo>
                  <a:pt x="10" y="18"/>
                </a:lnTo>
                <a:close/>
                <a:moveTo>
                  <a:pt x="13" y="17"/>
                </a:moveTo>
                <a:lnTo>
                  <a:pt x="14" y="17"/>
                </a:lnTo>
                <a:lnTo>
                  <a:pt x="14" y="18"/>
                </a:lnTo>
                <a:lnTo>
                  <a:pt x="13" y="18"/>
                </a:lnTo>
                <a:close/>
                <a:moveTo>
                  <a:pt x="16" y="17"/>
                </a:moveTo>
                <a:lnTo>
                  <a:pt x="17" y="17"/>
                </a:lnTo>
                <a:lnTo>
                  <a:pt x="17" y="18"/>
                </a:lnTo>
                <a:lnTo>
                  <a:pt x="16" y="18"/>
                </a:lnTo>
                <a:close/>
                <a:moveTo>
                  <a:pt x="20" y="17"/>
                </a:moveTo>
                <a:lnTo>
                  <a:pt x="21" y="17"/>
                </a:lnTo>
                <a:lnTo>
                  <a:pt x="21" y="18"/>
                </a:lnTo>
                <a:lnTo>
                  <a:pt x="20" y="18"/>
                </a:lnTo>
                <a:close/>
                <a:moveTo>
                  <a:pt x="22" y="17"/>
                </a:moveTo>
                <a:lnTo>
                  <a:pt x="24" y="17"/>
                </a:lnTo>
                <a:lnTo>
                  <a:pt x="24" y="18"/>
                </a:lnTo>
                <a:lnTo>
                  <a:pt x="22" y="18"/>
                </a:lnTo>
                <a:close/>
                <a:moveTo>
                  <a:pt x="0" y="18"/>
                </a:moveTo>
                <a:lnTo>
                  <a:pt x="7" y="18"/>
                </a:lnTo>
                <a:lnTo>
                  <a:pt x="7" y="19"/>
                </a:lnTo>
                <a:lnTo>
                  <a:pt x="0" y="19"/>
                </a:lnTo>
                <a:close/>
                <a:moveTo>
                  <a:pt x="8" y="18"/>
                </a:moveTo>
                <a:lnTo>
                  <a:pt x="10" y="18"/>
                </a:lnTo>
                <a:lnTo>
                  <a:pt x="10" y="19"/>
                </a:lnTo>
                <a:lnTo>
                  <a:pt x="8" y="19"/>
                </a:lnTo>
                <a:close/>
                <a:moveTo>
                  <a:pt x="12" y="18"/>
                </a:moveTo>
                <a:lnTo>
                  <a:pt x="15" y="18"/>
                </a:lnTo>
                <a:lnTo>
                  <a:pt x="15" y="19"/>
                </a:lnTo>
                <a:lnTo>
                  <a:pt x="12" y="19"/>
                </a:lnTo>
                <a:close/>
                <a:moveTo>
                  <a:pt x="16" y="18"/>
                </a:moveTo>
                <a:lnTo>
                  <a:pt x="17" y="18"/>
                </a:lnTo>
                <a:lnTo>
                  <a:pt x="17" y="19"/>
                </a:lnTo>
                <a:lnTo>
                  <a:pt x="16" y="19"/>
                </a:lnTo>
                <a:close/>
                <a:moveTo>
                  <a:pt x="18" y="18"/>
                </a:moveTo>
                <a:lnTo>
                  <a:pt x="19" y="18"/>
                </a:lnTo>
                <a:lnTo>
                  <a:pt x="19" y="19"/>
                </a:lnTo>
                <a:lnTo>
                  <a:pt x="18" y="19"/>
                </a:lnTo>
                <a:close/>
                <a:moveTo>
                  <a:pt x="20" y="18"/>
                </a:moveTo>
                <a:lnTo>
                  <a:pt x="21" y="18"/>
                </a:lnTo>
                <a:lnTo>
                  <a:pt x="21" y="19"/>
                </a:lnTo>
                <a:lnTo>
                  <a:pt x="20" y="19"/>
                </a:lnTo>
                <a:close/>
                <a:moveTo>
                  <a:pt x="24" y="18"/>
                </a:moveTo>
                <a:lnTo>
                  <a:pt x="25" y="18"/>
                </a:lnTo>
                <a:lnTo>
                  <a:pt x="25" y="19"/>
                </a:lnTo>
                <a:lnTo>
                  <a:pt x="24" y="19"/>
                </a:lnTo>
                <a:close/>
                <a:moveTo>
                  <a:pt x="0" y="19"/>
                </a:moveTo>
                <a:lnTo>
                  <a:pt x="1" y="19"/>
                </a:lnTo>
                <a:lnTo>
                  <a:pt x="1" y="20"/>
                </a:lnTo>
                <a:lnTo>
                  <a:pt x="0" y="20"/>
                </a:lnTo>
                <a:close/>
                <a:moveTo>
                  <a:pt x="6" y="19"/>
                </a:moveTo>
                <a:lnTo>
                  <a:pt x="7" y="19"/>
                </a:lnTo>
                <a:lnTo>
                  <a:pt x="7" y="20"/>
                </a:lnTo>
                <a:lnTo>
                  <a:pt x="6" y="20"/>
                </a:lnTo>
                <a:close/>
                <a:moveTo>
                  <a:pt x="8" y="19"/>
                </a:moveTo>
                <a:lnTo>
                  <a:pt x="10" y="19"/>
                </a:lnTo>
                <a:lnTo>
                  <a:pt x="10" y="20"/>
                </a:lnTo>
                <a:lnTo>
                  <a:pt x="8" y="20"/>
                </a:lnTo>
                <a:close/>
                <a:moveTo>
                  <a:pt x="11" y="19"/>
                </a:moveTo>
                <a:lnTo>
                  <a:pt x="12" y="19"/>
                </a:lnTo>
                <a:lnTo>
                  <a:pt x="12" y="20"/>
                </a:lnTo>
                <a:lnTo>
                  <a:pt x="11" y="20"/>
                </a:lnTo>
                <a:close/>
                <a:moveTo>
                  <a:pt x="13" y="19"/>
                </a:moveTo>
                <a:lnTo>
                  <a:pt x="14" y="19"/>
                </a:lnTo>
                <a:lnTo>
                  <a:pt x="14" y="20"/>
                </a:lnTo>
                <a:lnTo>
                  <a:pt x="13" y="20"/>
                </a:lnTo>
                <a:close/>
                <a:moveTo>
                  <a:pt x="15" y="19"/>
                </a:move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close/>
                <a:moveTo>
                  <a:pt x="20" y="19"/>
                </a:moveTo>
                <a:lnTo>
                  <a:pt x="21" y="19"/>
                </a:lnTo>
                <a:lnTo>
                  <a:pt x="21" y="20"/>
                </a:lnTo>
                <a:lnTo>
                  <a:pt x="20" y="20"/>
                </a:lnTo>
                <a:close/>
                <a:moveTo>
                  <a:pt x="0" y="20"/>
                </a:moveTo>
                <a:lnTo>
                  <a:pt x="1" y="20"/>
                </a:lnTo>
                <a:lnTo>
                  <a:pt x="1" y="21"/>
                </a:lnTo>
                <a:lnTo>
                  <a:pt x="0" y="21"/>
                </a:lnTo>
                <a:close/>
                <a:moveTo>
                  <a:pt x="2" y="20"/>
                </a:moveTo>
                <a:lnTo>
                  <a:pt x="5" y="20"/>
                </a:lnTo>
                <a:lnTo>
                  <a:pt x="5" y="21"/>
                </a:lnTo>
                <a:lnTo>
                  <a:pt x="2" y="21"/>
                </a:lnTo>
                <a:close/>
                <a:moveTo>
                  <a:pt x="6" y="20"/>
                </a:moveTo>
                <a:lnTo>
                  <a:pt x="7" y="20"/>
                </a:lnTo>
                <a:lnTo>
                  <a:pt x="7" y="21"/>
                </a:lnTo>
                <a:lnTo>
                  <a:pt x="6" y="21"/>
                </a:lnTo>
                <a:close/>
                <a:moveTo>
                  <a:pt x="8" y="20"/>
                </a:moveTo>
                <a:lnTo>
                  <a:pt x="9" y="20"/>
                </a:lnTo>
                <a:lnTo>
                  <a:pt x="9" y="21"/>
                </a:lnTo>
                <a:lnTo>
                  <a:pt x="8" y="21"/>
                </a:lnTo>
                <a:close/>
                <a:moveTo>
                  <a:pt x="11" y="20"/>
                </a:moveTo>
                <a:lnTo>
                  <a:pt x="12" y="20"/>
                </a:lnTo>
                <a:lnTo>
                  <a:pt x="12" y="21"/>
                </a:lnTo>
                <a:lnTo>
                  <a:pt x="11" y="21"/>
                </a:lnTo>
                <a:close/>
                <a:moveTo>
                  <a:pt x="13" y="20"/>
                </a:moveTo>
                <a:lnTo>
                  <a:pt x="14" y="20"/>
                </a:lnTo>
                <a:lnTo>
                  <a:pt x="14" y="21"/>
                </a:lnTo>
                <a:lnTo>
                  <a:pt x="13" y="21"/>
                </a:lnTo>
                <a:close/>
                <a:moveTo>
                  <a:pt x="15" y="20"/>
                </a:moveTo>
                <a:lnTo>
                  <a:pt x="21" y="20"/>
                </a:lnTo>
                <a:lnTo>
                  <a:pt x="21" y="21"/>
                </a:lnTo>
                <a:lnTo>
                  <a:pt x="15" y="21"/>
                </a:lnTo>
                <a:close/>
                <a:moveTo>
                  <a:pt x="23" y="20"/>
                </a:moveTo>
                <a:lnTo>
                  <a:pt x="25" y="20"/>
                </a:lnTo>
                <a:lnTo>
                  <a:pt x="25" y="21"/>
                </a:lnTo>
                <a:lnTo>
                  <a:pt x="23" y="21"/>
                </a:lnTo>
                <a:close/>
                <a:moveTo>
                  <a:pt x="0" y="21"/>
                </a:moveTo>
                <a:lnTo>
                  <a:pt x="1" y="21"/>
                </a:lnTo>
                <a:lnTo>
                  <a:pt x="1" y="22"/>
                </a:lnTo>
                <a:lnTo>
                  <a:pt x="0" y="22"/>
                </a:lnTo>
                <a:close/>
                <a:moveTo>
                  <a:pt x="2" y="21"/>
                </a:moveTo>
                <a:lnTo>
                  <a:pt x="5" y="21"/>
                </a:lnTo>
                <a:lnTo>
                  <a:pt x="5" y="22"/>
                </a:lnTo>
                <a:lnTo>
                  <a:pt x="2" y="22"/>
                </a:lnTo>
                <a:close/>
                <a:moveTo>
                  <a:pt x="6" y="21"/>
                </a:moveTo>
                <a:lnTo>
                  <a:pt x="7" y="21"/>
                </a:lnTo>
                <a:lnTo>
                  <a:pt x="7" y="22"/>
                </a:lnTo>
                <a:lnTo>
                  <a:pt x="6" y="22"/>
                </a:lnTo>
                <a:close/>
                <a:moveTo>
                  <a:pt x="8" y="21"/>
                </a:moveTo>
                <a:lnTo>
                  <a:pt x="9" y="21"/>
                </a:lnTo>
                <a:lnTo>
                  <a:pt x="9" y="22"/>
                </a:lnTo>
                <a:lnTo>
                  <a:pt x="8" y="22"/>
                </a:lnTo>
                <a:close/>
                <a:moveTo>
                  <a:pt x="10" y="21"/>
                </a:moveTo>
                <a:lnTo>
                  <a:pt x="11" y="21"/>
                </a:lnTo>
                <a:lnTo>
                  <a:pt x="11" y="22"/>
                </a:lnTo>
                <a:lnTo>
                  <a:pt x="10" y="22"/>
                </a:lnTo>
                <a:close/>
                <a:moveTo>
                  <a:pt x="12" y="21"/>
                </a:moveTo>
                <a:lnTo>
                  <a:pt x="16" y="21"/>
                </a:lnTo>
                <a:lnTo>
                  <a:pt x="16" y="22"/>
                </a:lnTo>
                <a:lnTo>
                  <a:pt x="12" y="22"/>
                </a:lnTo>
                <a:close/>
                <a:moveTo>
                  <a:pt x="17" y="21"/>
                </a:moveTo>
                <a:lnTo>
                  <a:pt x="19" y="21"/>
                </a:lnTo>
                <a:lnTo>
                  <a:pt x="19" y="22"/>
                </a:lnTo>
                <a:lnTo>
                  <a:pt x="17" y="22"/>
                </a:lnTo>
                <a:close/>
                <a:moveTo>
                  <a:pt x="23" y="21"/>
                </a:moveTo>
                <a:lnTo>
                  <a:pt x="25" y="21"/>
                </a:lnTo>
                <a:lnTo>
                  <a:pt x="25" y="22"/>
                </a:lnTo>
                <a:lnTo>
                  <a:pt x="23" y="22"/>
                </a:lnTo>
                <a:close/>
                <a:moveTo>
                  <a:pt x="0" y="22"/>
                </a:moveTo>
                <a:lnTo>
                  <a:pt x="1" y="22"/>
                </a:lnTo>
                <a:lnTo>
                  <a:pt x="1" y="23"/>
                </a:lnTo>
                <a:lnTo>
                  <a:pt x="0" y="23"/>
                </a:lnTo>
                <a:close/>
                <a:moveTo>
                  <a:pt x="2" y="22"/>
                </a:moveTo>
                <a:lnTo>
                  <a:pt x="5" y="22"/>
                </a:lnTo>
                <a:lnTo>
                  <a:pt x="5" y="23"/>
                </a:lnTo>
                <a:lnTo>
                  <a:pt x="2" y="23"/>
                </a:lnTo>
                <a:close/>
                <a:moveTo>
                  <a:pt x="6" y="22"/>
                </a:moveTo>
                <a:lnTo>
                  <a:pt x="7" y="22"/>
                </a:lnTo>
                <a:lnTo>
                  <a:pt x="7" y="23"/>
                </a:lnTo>
                <a:lnTo>
                  <a:pt x="6" y="23"/>
                </a:lnTo>
                <a:close/>
                <a:moveTo>
                  <a:pt x="10" y="22"/>
                </a:moveTo>
                <a:lnTo>
                  <a:pt x="12" y="22"/>
                </a:lnTo>
                <a:lnTo>
                  <a:pt x="12" y="23"/>
                </a:lnTo>
                <a:lnTo>
                  <a:pt x="10" y="23"/>
                </a:lnTo>
                <a:close/>
                <a:moveTo>
                  <a:pt x="13" y="22"/>
                </a:moveTo>
                <a:lnTo>
                  <a:pt x="14" y="22"/>
                </a:lnTo>
                <a:lnTo>
                  <a:pt x="14" y="23"/>
                </a:lnTo>
                <a:lnTo>
                  <a:pt x="13" y="23"/>
                </a:lnTo>
                <a:close/>
                <a:moveTo>
                  <a:pt x="15" y="22"/>
                </a:moveTo>
                <a:lnTo>
                  <a:pt x="16" y="22"/>
                </a:lnTo>
                <a:lnTo>
                  <a:pt x="16" y="23"/>
                </a:lnTo>
                <a:lnTo>
                  <a:pt x="15" y="23"/>
                </a:lnTo>
                <a:close/>
                <a:moveTo>
                  <a:pt x="17" y="22"/>
                </a:moveTo>
                <a:lnTo>
                  <a:pt x="18" y="22"/>
                </a:lnTo>
                <a:lnTo>
                  <a:pt x="18" y="23"/>
                </a:lnTo>
                <a:lnTo>
                  <a:pt x="17" y="23"/>
                </a:lnTo>
                <a:close/>
                <a:moveTo>
                  <a:pt x="20" y="22"/>
                </a:moveTo>
                <a:lnTo>
                  <a:pt x="25" y="22"/>
                </a:lnTo>
                <a:lnTo>
                  <a:pt x="25" y="23"/>
                </a:lnTo>
                <a:lnTo>
                  <a:pt x="20" y="23"/>
                </a:lnTo>
                <a:close/>
                <a:moveTo>
                  <a:pt x="0" y="23"/>
                </a:moveTo>
                <a:lnTo>
                  <a:pt x="1" y="23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6" y="23"/>
                </a:moveTo>
                <a:lnTo>
                  <a:pt x="7" y="23"/>
                </a:lnTo>
                <a:lnTo>
                  <a:pt x="7" y="24"/>
                </a:lnTo>
                <a:lnTo>
                  <a:pt x="6" y="24"/>
                </a:lnTo>
                <a:close/>
                <a:moveTo>
                  <a:pt x="10" y="23"/>
                </a:moveTo>
                <a:lnTo>
                  <a:pt x="14" y="23"/>
                </a:lnTo>
                <a:lnTo>
                  <a:pt x="14" y="24"/>
                </a:lnTo>
                <a:lnTo>
                  <a:pt x="10" y="24"/>
                </a:lnTo>
                <a:close/>
                <a:moveTo>
                  <a:pt x="17" y="23"/>
                </a:moveTo>
                <a:lnTo>
                  <a:pt x="18" y="23"/>
                </a:lnTo>
                <a:lnTo>
                  <a:pt x="18" y="24"/>
                </a:lnTo>
                <a:lnTo>
                  <a:pt x="17" y="24"/>
                </a:lnTo>
                <a:close/>
                <a:moveTo>
                  <a:pt x="19" y="23"/>
                </a:moveTo>
                <a:lnTo>
                  <a:pt x="21" y="23"/>
                </a:lnTo>
                <a:lnTo>
                  <a:pt x="21" y="24"/>
                </a:lnTo>
                <a:lnTo>
                  <a:pt x="19" y="24"/>
                </a:lnTo>
                <a:close/>
                <a:moveTo>
                  <a:pt x="22" y="23"/>
                </a:moveTo>
                <a:lnTo>
                  <a:pt x="25" y="23"/>
                </a:lnTo>
                <a:lnTo>
                  <a:pt x="25" y="24"/>
                </a:lnTo>
                <a:lnTo>
                  <a:pt x="22" y="24"/>
                </a:lnTo>
                <a:close/>
                <a:moveTo>
                  <a:pt x="0" y="24"/>
                </a:moveTo>
                <a:lnTo>
                  <a:pt x="7" y="24"/>
                </a:lnTo>
                <a:lnTo>
                  <a:pt x="7" y="25"/>
                </a:lnTo>
                <a:lnTo>
                  <a:pt x="0" y="25"/>
                </a:lnTo>
                <a:close/>
                <a:moveTo>
                  <a:pt x="8" y="24"/>
                </a:moveTo>
                <a:lnTo>
                  <a:pt x="9" y="24"/>
                </a:lnTo>
                <a:lnTo>
                  <a:pt x="9" y="25"/>
                </a:lnTo>
                <a:lnTo>
                  <a:pt x="8" y="25"/>
                </a:lnTo>
                <a:close/>
                <a:moveTo>
                  <a:pt x="11" y="24"/>
                </a:moveTo>
                <a:lnTo>
                  <a:pt x="14" y="24"/>
                </a:lnTo>
                <a:lnTo>
                  <a:pt x="14" y="25"/>
                </a:lnTo>
                <a:lnTo>
                  <a:pt x="11" y="25"/>
                </a:lnTo>
                <a:close/>
                <a:moveTo>
                  <a:pt x="16" y="24"/>
                </a:moveTo>
                <a:lnTo>
                  <a:pt x="17" y="24"/>
                </a:lnTo>
                <a:lnTo>
                  <a:pt x="17" y="25"/>
                </a:lnTo>
                <a:lnTo>
                  <a:pt x="16" y="25"/>
                </a:lnTo>
                <a:close/>
                <a:moveTo>
                  <a:pt x="18" y="24"/>
                </a:moveTo>
                <a:lnTo>
                  <a:pt x="19" y="24"/>
                </a:lnTo>
                <a:lnTo>
                  <a:pt x="19" y="25"/>
                </a:lnTo>
                <a:lnTo>
                  <a:pt x="18" y="25"/>
                </a:lnTo>
                <a:close/>
                <a:moveTo>
                  <a:pt x="21" y="24"/>
                </a:moveTo>
                <a:lnTo>
                  <a:pt x="22" y="24"/>
                </a:lnTo>
                <a:lnTo>
                  <a:pt x="22" y="25"/>
                </a:lnTo>
                <a:lnTo>
                  <a:pt x="21" y="25"/>
                </a:lnTo>
                <a:close/>
                <a:moveTo>
                  <a:pt x="24" y="24"/>
                </a:moveTo>
                <a:lnTo>
                  <a:pt x="25" y="24"/>
                </a:lnTo>
                <a:lnTo>
                  <a:pt x="25" y="25"/>
                </a:lnTo>
                <a:lnTo>
                  <a:pt x="24" y="25"/>
                </a:lnTo>
                <a:close/>
              </a:path>
            </a:pathLst>
          </a:custGeom>
          <a:solidFill>
            <a:srgbClr val="14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R caption"/>
          <p:cNvSpPr txBox="1"/>
          <p:nvPr/>
        </p:nvSpPr>
        <p:spPr>
          <a:xfrm>
            <a:off x="8488375" y="49743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Scan to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A2UI Catalog, in slides</dc:title>
  <dc:subject/>
  <dc:creator>A2UI Catalog</dc:creator>
  <cp:keywords>target=google-slides</cp:keywords>
  <dc:description>generated using python-pptx</dc:description>
  <cp:lastModifiedBy>Steve Canny</cp:lastModifiedBy>
  <cp:revision>1</cp:revision>
  <dcterms:created xsi:type="dcterms:W3CDTF">2026-10-08T08:00:00Z</dcterms:created>
  <dcterms:modified xsi:type="dcterms:W3CDTF">2026-10-08T08:00:00Z</dcterms:modified>
  <cp:category/>
  <dc:language>en-US</dc:language>
</cp:coreProperties>
</file>